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960120"/>
            <a:ext cx="347472" cy="4480560"/>
          </a:xfrm>
          <a:prstGeom prst="round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91440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211F"/>
                </a:solidFill>
                <a:latin typeface="Aptos Display"/>
              </a:rPr>
              <a:t>OpenNutri AI / Algorithm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1810512"/>
            <a:ext cx="5303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85F5B"/>
                </a:solidFill>
                <a:latin typeface="Aptos"/>
              </a:rPr>
              <a:t>Midterm exposition | Retrieval, ranking, and feedback reuse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359152"/>
            <a:ext cx="4846320" cy="1938528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596896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95B43"/>
                </a:solidFill>
                <a:latin typeface="Aptos"/>
              </a:rPr>
              <a:t>Current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889504"/>
            <a:ext cx="4297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11F"/>
                </a:solidFill>
                <a:latin typeface="Aptos"/>
              </a:defRPr>
            </a:pPr>
            <a:r>
              <a:t>Multi-source paper discovery</a:t>
            </a:r>
          </a:p>
          <a:p>
            <a:pPr>
              <a:spcAft>
                <a:spcPts val="700"/>
              </a:spcAft>
              <a:defRPr sz="1700">
                <a:solidFill>
                  <a:srgbClr val="1E211F"/>
                </a:solidFill>
                <a:latin typeface="Aptos"/>
              </a:defRPr>
            </a:pPr>
            <a:r>
              <a:t>Bilingual EN/TR retrieval strategy</a:t>
            </a:r>
          </a:p>
          <a:p>
            <a:pPr>
              <a:spcAft>
                <a:spcPts val="700"/>
              </a:spcAft>
              <a:defRPr sz="1700">
                <a:solidFill>
                  <a:srgbClr val="1E211F"/>
                </a:solidFill>
                <a:latin typeface="Aptos"/>
              </a:defRPr>
            </a:pPr>
            <a:r>
              <a:t>Feedback-driven re-ranking for later runs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960120"/>
            <a:ext cx="4937760" cy="493776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23444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95B43"/>
                </a:solidFill>
                <a:latin typeface="Aptos"/>
              </a:rPr>
              <a:t>System claim at midterm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783080"/>
            <a:ext cx="397763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E211F"/>
                </a:solidFill>
                <a:latin typeface="Aptos Display"/>
              </a:rPr>
              <a:t>Retrieval, annotation, and feedback already work together as one operational loop.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611880"/>
            <a:ext cx="397763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85F5B"/>
                </a:solidFill>
                <a:latin typeface="Aptos"/>
              </a:rPr>
              <a:t>Search, filtering, PDF acquisition, annotation, and later feedback reuse are all part of the current implementation.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2823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85F5B"/>
                </a:solidFill>
                <a:latin typeface="Aptos"/>
              </a:rPr>
              <a:t>OpenNutri | AI / Algorithm mini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2823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943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E211F"/>
                </a:solidFill>
                <a:latin typeface="Aptos Display"/>
              </a:rPr>
              <a:t>Why This Layer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85F5B"/>
                </a:solidFill>
                <a:latin typeface="Aptos"/>
              </a:rPr>
              <a:t>The algorithmic layer exists to protect expert time and improve retrieval quality.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00200"/>
            <a:ext cx="2971800" cy="41605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1832" y="1828800"/>
            <a:ext cx="1417320" cy="384048"/>
          </a:xfrm>
          <a:prstGeom prst="roundRect">
            <a:avLst/>
          </a:prstGeom>
          <a:solidFill>
            <a:srgbClr val="F4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C68137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31720"/>
            <a:ext cx="2423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11F"/>
                </a:solidFill>
                <a:latin typeface="Aptos Display"/>
              </a:rPr>
              <a:t>Distributed literature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38328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85F5B"/>
                </a:solidFill>
                <a:latin typeface="Aptos"/>
              </a:rPr>
              <a:t>Relevant food-composition papers are spread across multiple databases and local platforms.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600200"/>
            <a:ext cx="2971800" cy="41605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1417320" cy="384048"/>
          </a:xfrm>
          <a:prstGeom prst="roundRect">
            <a:avLst/>
          </a:prstGeom>
          <a:solidFill>
            <a:srgbClr val="F4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C68137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331720"/>
            <a:ext cx="2423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11F"/>
                </a:solidFill>
                <a:latin typeface="Aptos Display"/>
              </a:rPr>
              <a:t>High acquisition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38328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85F5B"/>
                </a:solidFill>
                <a:latin typeface="Aptos"/>
              </a:rPr>
              <a:t>Downloading every possible PDF is slow, noisy, and wastes expert review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4927" y="1600200"/>
            <a:ext cx="2971800" cy="41605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53527" y="1828800"/>
            <a:ext cx="1417320" cy="384048"/>
          </a:xfrm>
          <a:prstGeom prst="roundRect">
            <a:avLst/>
          </a:prstGeom>
          <a:solidFill>
            <a:srgbClr val="F4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C68137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7" y="2331720"/>
            <a:ext cx="2423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11F"/>
                </a:solidFill>
                <a:latin typeface="Aptos Display"/>
              </a:rPr>
              <a:t>Retrieval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7" y="338328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85F5B"/>
                </a:solidFill>
                <a:latin typeface="Aptos"/>
              </a:rPr>
              <a:t>The system ranks metadata before acquisition and treats English and Turkish as separate pools.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5897880"/>
            <a:ext cx="9692640" cy="45720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6025896"/>
            <a:ext cx="9235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11F"/>
                </a:solidFill>
                <a:latin typeface="Aptos"/>
              </a:rPr>
              <a:t>Goal: spend acquisition and annotation effort only on papers with real food-composition potential.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85F5B"/>
                </a:solidFill>
                <a:latin typeface="Aptos"/>
              </a:rPr>
              <a:t>OpenNutri | AI / Algorithm mini deck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2823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E211F"/>
                </a:solidFill>
                <a:latin typeface="Aptos Display"/>
              </a:rPr>
              <a:t>Retrieval And Ranking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85F5B"/>
                </a:solidFill>
                <a:latin typeface="Aptos"/>
              </a:rPr>
              <a:t>The pipeline rejects weak candidates early and reserves PDF download for stronger papers.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28800"/>
            <a:ext cx="1874519" cy="107899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66543"/>
            <a:ext cx="154533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Search
Sources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24327" y="2368296"/>
            <a:ext cx="22860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52927" y="1828800"/>
            <a:ext cx="1554480" cy="107899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066543"/>
            <a:ext cx="122529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Search
Gate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07407" y="2368296"/>
            <a:ext cx="22860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36007" y="1828800"/>
            <a:ext cx="1874519" cy="1078992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599" y="2066543"/>
            <a:ext cx="154533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Metadata
Filter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10527" y="2368296"/>
            <a:ext cx="22860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39127" y="1828800"/>
            <a:ext cx="1554480" cy="107899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19" y="2066543"/>
            <a:ext cx="122529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PDF
Intake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93607" y="2368296"/>
            <a:ext cx="22860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522207" y="1828800"/>
            <a:ext cx="1828800" cy="107899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799" y="2066543"/>
            <a:ext cx="149961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Expert
Annotation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31012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95B43"/>
                </a:solidFill>
                <a:latin typeface="Aptos"/>
              </a:rPr>
              <a:t>Signals inside metadata filter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03320"/>
            <a:ext cx="1554480" cy="384048"/>
          </a:xfrm>
          <a:prstGeom prst="roundRect">
            <a:avLst/>
          </a:prstGeom>
          <a:solidFill>
            <a:srgbClr val="D7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95B43"/>
                </a:solidFill>
                <a:latin typeface="Aptos"/>
              </a:rPr>
              <a:t>composition phrases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23160" y="3703320"/>
            <a:ext cx="1783080" cy="384048"/>
          </a:xfrm>
          <a:prstGeom prst="roundRect">
            <a:avLst/>
          </a:prstGeom>
          <a:solidFill>
            <a:srgbClr val="D7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95B43"/>
                </a:solidFill>
                <a:latin typeface="Aptos"/>
              </a:rPr>
              <a:t>food and nutrient terms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03320"/>
            <a:ext cx="1325880" cy="384048"/>
          </a:xfrm>
          <a:prstGeom prst="roundRect">
            <a:avLst/>
          </a:prstGeom>
          <a:solidFill>
            <a:srgbClr val="D7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95B43"/>
                </a:solidFill>
                <a:latin typeface="Aptos"/>
              </a:rPr>
              <a:t>unit patterns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3703320"/>
            <a:ext cx="1600200" cy="384048"/>
          </a:xfrm>
          <a:prstGeom prst="roundRect">
            <a:avLst/>
          </a:prstGeom>
          <a:solidFill>
            <a:srgbClr val="F4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C68137"/>
                </a:solidFill>
                <a:latin typeface="Aptos"/>
              </a:rPr>
              <a:t>semantic similarity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3703320"/>
            <a:ext cx="1828800" cy="384048"/>
          </a:xfrm>
          <a:prstGeom prst="roundRect">
            <a:avLst/>
          </a:prstGeom>
          <a:solidFill>
            <a:srgbClr val="F4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C68137"/>
                </a:solidFill>
                <a:latin typeface="Aptos"/>
              </a:rPr>
              <a:t>source and query priors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4187952"/>
            <a:ext cx="2057400" cy="384048"/>
          </a:xfrm>
          <a:prstGeom prst="roundRect">
            <a:avLst/>
          </a:prstGeom>
          <a:solidFill>
            <a:srgbClr val="D7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95B43"/>
                </a:solidFill>
                <a:latin typeface="Aptos"/>
              </a:rPr>
              <a:t>feedback-weighted terms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28032"/>
            <a:ext cx="10149840" cy="841248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038344"/>
            <a:ext cx="9692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85F5B"/>
                </a:solidFill>
                <a:latin typeface="Aptos"/>
              </a:rPr>
              <a:t>Current implementation uses additive scoring: explicit lexical cues, embeddings, and learned feedback all contribute.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2823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85F5B"/>
                </a:solidFill>
                <a:latin typeface="Aptos"/>
              </a:rPr>
              <a:t>OpenNutri | AI / Algorithm mini deck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42823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E211F"/>
                </a:solidFill>
                <a:latin typeface="Aptos Display"/>
              </a:rPr>
              <a:t>Implemented Feedback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85F5B"/>
                </a:solidFill>
                <a:latin typeface="Aptos"/>
              </a:rPr>
              <a:t>This loop is implemented now; it updates later crawler runs rather than only storing labels.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103120"/>
            <a:ext cx="2057400" cy="86868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2331720"/>
            <a:ext cx="17282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11F"/>
                </a:solidFill>
                <a:latin typeface="Aptos Display"/>
              </a:rPr>
              <a:t>Crawler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444752"/>
            <a:ext cx="2468880" cy="86868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6472" y="1673352"/>
            <a:ext cx="2139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11F"/>
                </a:solidFill>
                <a:latin typeface="Aptos Display"/>
              </a:rPr>
              <a:t>Search outcomes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103120"/>
            <a:ext cx="2331720" cy="86868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3992" y="2331720"/>
            <a:ext cx="20025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11F"/>
                </a:solidFill>
                <a:latin typeface="Aptos Display"/>
              </a:rPr>
              <a:t>Annotation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4069080"/>
            <a:ext cx="2468880" cy="86868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13631" y="4297680"/>
            <a:ext cx="2139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11F"/>
                </a:solidFill>
                <a:latin typeface="Aptos Display"/>
              </a:rPr>
              <a:t>Feedback update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063240" y="1874519"/>
            <a:ext cx="548640" cy="658369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1874519"/>
            <a:ext cx="548640" cy="658369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532120" y="2971800"/>
            <a:ext cx="2194559" cy="109728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2011680" y="2971800"/>
            <a:ext cx="2331720" cy="109728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72600" y="1554480"/>
            <a:ext cx="2148840" cy="41605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181051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95B43"/>
                </a:solidFill>
                <a:latin typeface="Aptos"/>
              </a:rPr>
              <a:t>Update targets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148840"/>
            <a:ext cx="1664208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Latest visible label per user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Positive, negative, and conflict sets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Updated query and anchor phrases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Updated concept and source priorities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0744200" cy="54864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925312"/>
            <a:ext cx="10287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11F"/>
                </a:solidFill>
                <a:latin typeface="Aptos"/>
              </a:rPr>
              <a:t>Current state: a working batch feedback loop. It changes later runs, but it is not yet a trained classifier.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85F5B"/>
                </a:solidFill>
                <a:latin typeface="Aptos"/>
              </a:rPr>
              <a:t>OpenNutri | AI / Algorithm mini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2823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E211F"/>
                </a:solidFill>
                <a:latin typeface="Aptos Display"/>
              </a:rPr>
              <a:t>Current State And Scope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85F5B"/>
                </a:solidFill>
                <a:latin typeface="Aptos"/>
              </a:rPr>
              <a:t>This slide helps you defend the project without overclaiming.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600200"/>
            <a:ext cx="5257800" cy="448056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28800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95B43"/>
                </a:solidFill>
                <a:latin typeface="Aptos Display"/>
              </a:rPr>
              <a:t>Implemented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95728"/>
            <a:ext cx="4572000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Multi-source search across Europe PMC, OpenAlex, Semantic Scholar, and DergiPark</a:t>
            </a:r>
          </a:p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Two-stage filtering before PDF download</a:t>
            </a:r>
          </a:p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Embedding-supported metadata scoring</a:t>
            </a:r>
          </a:p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Feedback-driven statistical term updates</a:t>
            </a:r>
          </a:p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Paper-stock refill that closes the operational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166360" cy="448056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828800"/>
            <a:ext cx="2880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68137"/>
                </a:solidFill>
                <a:latin typeface="Aptos Display"/>
              </a:rPr>
              <a:t>Deferred to second semester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450592"/>
            <a:ext cx="44348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Document segmentation</a:t>
            </a:r>
          </a:p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LLM-assisted extraction</a:t>
            </a:r>
          </a:p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Classifier training after label volume grows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4206240"/>
            <a:ext cx="4343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211F"/>
                </a:solidFill>
                <a:latin typeface="Aptos Display"/>
              </a:rPr>
              <a:t>Key midterm claim: retrieval, annotation, and feedback already work together as one system.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2823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85F5B"/>
                </a:solidFill>
                <a:latin typeface="Aptos"/>
              </a:rPr>
              <a:t>OpenNutri | AI / Algorithm mini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EN 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