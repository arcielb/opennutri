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868680"/>
            <a:ext cx="329184" cy="4846320"/>
          </a:xfrm>
          <a:prstGeom prst="round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841248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11F"/>
                </a:solidFill>
                <a:latin typeface="Aptos Display"/>
              </a:rPr>
              <a:t>OpenNutri Yapay Zeka / Algoritma Ana Savunması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55648"/>
            <a:ext cx="5669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85F5B"/>
                </a:solidFill>
                <a:latin typeface="Aptos"/>
              </a:rPr>
              <a:t>Arasınav sunumu | Erişim, sıralama, iki dilli arama ve geri besleme kullanımı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359152"/>
            <a:ext cx="4892040" cy="21945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61518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5B43"/>
                </a:solidFill>
                <a:latin typeface="Aptos"/>
              </a:rPr>
              <a:t>Rol çerçevesi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889504"/>
            <a:ext cx="42519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Birden fazla bilimsel kaynak üzerinde erişim tasarımı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PDF ediniminden önce sıralama mantığı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EN/TR dil ayrımı ve Türkçe kaynak desteği</a:t>
            </a:r>
          </a:p>
          <a:p>
            <a:pPr>
              <a:spcAft>
                <a:spcPts val="700"/>
              </a:spcAft>
              <a:defRPr sz="1500">
                <a:solidFill>
                  <a:srgbClr val="1E211F"/>
                </a:solidFill>
                <a:latin typeface="Aptos"/>
              </a:defRPr>
            </a:pPr>
            <a:r>
              <a:t>Anotasyon çıktılarından geri besleme kullanımı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960120"/>
            <a:ext cx="5074920" cy="49834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207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5B43"/>
                </a:solidFill>
                <a:latin typeface="Aptos"/>
              </a:rPr>
              <a:t>Arasınav ana iddiası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719072"/>
            <a:ext cx="4251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11F"/>
                </a:solidFill>
                <a:latin typeface="Aptos Display"/>
              </a:rPr>
              <a:t>OpenNutri şimdiden arama, filtreleme, PDF edinimi, anotasyon ve geri besleme kullanımını bağlayan kapalı bir döngü olarak çalışmaktadır.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3822191"/>
            <a:ext cx="43434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85F5B"/>
                </a:solidFill>
                <a:latin typeface="Aptos"/>
              </a:rPr>
              <a:t>Bu sunum, bu döngüyü yapay zeka / algoritma tarafından açıklar ve ardından savunmada önemli olabilecek uygulama ayrıntılarına iner.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Bu katman neden var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Algoritmik problem yalnızca makale toplamak değildir; hangi makalelerin indirilmeye ve uzman zamanına değdiğini seçmektir.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63040"/>
            <a:ext cx="2990088" cy="43708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609344"/>
            <a:ext cx="822960" cy="310896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6813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29968"/>
            <a:ext cx="2624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Dağınık literatür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32304"/>
            <a:ext cx="2624328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Uygun gıda bileşimi makaleleri Europe PMC, OpenAlex, Semantic Scholar, DergiPark ve yerel açık erişim yollarına dağılmıştır. Tek kaynaklı strateji çok şey kaçırır.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05072" y="1463040"/>
            <a:ext cx="2990088" cy="43708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9663" y="1609344"/>
            <a:ext cx="822960" cy="310896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6813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029968"/>
            <a:ext cx="2624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Yüksek edinim maliyeti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432304"/>
            <a:ext cx="2624328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Her aday PDF'yi körlemesine indirmek pahalı, gürültülü ve verimsizdir. Sistem yalnızca indirmeden sonra değil, edinimden önce de sıralama gerektirir.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1463040"/>
            <a:ext cx="2990088" cy="43708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61504" y="1609344"/>
            <a:ext cx="822960" cy="310896"/>
          </a:xfrm>
          <a:prstGeom prst="roundRect">
            <a:avLst/>
          </a:prstGeom>
          <a:solidFill>
            <a:srgbClr val="F4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C68137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2029968"/>
            <a:ext cx="26243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Türkçe görünürlük açığı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2432304"/>
            <a:ext cx="2624328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Türkçe çalışmalar standart uluslararası gıda-veri sistemlerinde eksik temsil edilir. Bu nedenle erişim, açık EN/TR ayrımı ve Türkçe kaynak desteği gerektirir.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43600"/>
            <a:ext cx="10533888" cy="384048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6035040"/>
            <a:ext cx="10058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11F"/>
                </a:solidFill>
                <a:latin typeface="Aptos"/>
              </a:rPr>
              <a:t>Yapay zeka katmanının amacı: geri çağırmayı korurken ve gereksiz PDF işini önlerken annotator'a giden yararlı makale akışını en üst düzeye çıkarmaktır.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OpenNutri arasınavda nedir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Yapay zeka rolü açısından önemli nokta, projenin ayrı bir scraper, backend ve arayüz değil, birbirine bağlı tek bir döngü olmasıdır.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325880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1143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Arama kaynakları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32257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1828800"/>
            <a:ext cx="1325880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084831"/>
            <a:ext cx="1143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Arama kapısı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322576"/>
            <a:ext cx="320039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77639" y="1828800"/>
            <a:ext cx="1417320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79" y="2084831"/>
            <a:ext cx="1234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Meta veri filtresi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94959" y="2322576"/>
            <a:ext cx="320041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15000" y="1828800"/>
            <a:ext cx="1325880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084831"/>
            <a:ext cx="1143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PDF edinimi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2322576"/>
            <a:ext cx="41148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52360" y="1828800"/>
            <a:ext cx="1508760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084831"/>
            <a:ext cx="1325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Uzman anotasyonu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0" y="2322576"/>
            <a:ext cx="2286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89720" y="1828800"/>
            <a:ext cx="1600200" cy="987552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2084831"/>
            <a:ext cx="1417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Geri besleme güncellemesi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429000"/>
            <a:ext cx="5212080" cy="233172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675887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95B43"/>
                </a:solidFill>
                <a:latin typeface="Aptos"/>
              </a:rPr>
              <a:t>Ne olduğudur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968496"/>
            <a:ext cx="4526280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İnsan döngüsünde çalışan bilimsel makale keşif sistemi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Crawler, depolama ve anotasyon arasında ortak veri sözleşmesi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Sonraki çalıştırmaları değiştiren geri besleme güdümlü erişim sistemi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429000"/>
            <a:ext cx="5120640" cy="233172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75887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68137"/>
                </a:solidFill>
                <a:latin typeface="Aptos"/>
              </a:rPr>
              <a:t>Ne olmadığıdır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968496"/>
            <a:ext cx="446227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Her şeyi indiren tek seferlik bir scraper değildir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Yalnızca bir veritabanı şeması veya yalnızca bir etiketleme arayüzü değildir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Henüz tamamen otomatik bir çıkarım motoru değildir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Uçtan uca mimari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Mimari, keşif, depolama, anotasyon ve sonraki geri besleme kullanımını şimdiden bağlıyor. Bu, sunumun geri kalanı için sistem haritasıdır.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417320"/>
            <a:ext cx="5806440" cy="486460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90472"/>
            <a:ext cx="5660136" cy="47183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1417320"/>
            <a:ext cx="4407408" cy="486460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8249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5B43"/>
                </a:solidFill>
                <a:latin typeface="Aptos"/>
              </a:rPr>
              <a:t>Bu şekil nasıl okunur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48256"/>
            <a:ext cx="3749039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Arama kaynakları meta veri adayları üretir.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Crawler hangi adayların edinime değdiğine karar verir.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Kabul edilen makaleler Supabase depolamasına ve paper kayıtlarına taşınır.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Annotator yapılandırılmış food-item ve nutrient kanıtı oluşturur.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Label event'ler ve global label'lar sonraki erişim döngüsünü besler.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504688"/>
            <a:ext cx="4069080" cy="45720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64184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Ana savunma noktası: yapay zeka katmanı üründen kopuk değil, gerçek kullanıcı kararlarına bağlıdır.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Yapay zeka açısından ilgili ortak veri modeli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Erişim katmanı paper kayıtlarına, arama kanıtına, kullanıcı event'lerine ve ortak bir sözlüğe dayanır.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417320"/>
            <a:ext cx="5742432" cy="48280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3_databas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90472"/>
            <a:ext cx="5596128" cy="46817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1417320"/>
            <a:ext cx="4407408" cy="48280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00784"/>
            <a:ext cx="3749039" cy="3822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Referans sözlük: entities, alias'lar ve master nutrient'ler hem erişim hem anotasyon tarafından yeniden kullanılır.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Paper alımı: papers tablosu, arayüz için mevcut kabul edilmiş PDF düzeyi kayıtları tutar.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Arama kanıtı: paper_search_hits, paper_search_batches ve paper_search_batch_hits, bir paper'ın sisteme neden girdiğini korur.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Geri besleme kanıtı: paper_label_events, paper_global_labels ve search_sessions, sonraki sıralama güncellemeleri için kullanıcı davranışını korur.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32120"/>
            <a:ext cx="4069080" cy="475488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566928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Önemli ayrım: ham arama kanıtı, kabul edilmiş paper kayıtlarından ayrı tutulur.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Arama katmanı ve dil ayrımı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Crawler tasarım gereği çok kaynaklıdır ve İngilizce ile Türkçeyi tek birleşik havuz yerine farklı erişim ortamları olarak ele alır.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536192"/>
            <a:ext cx="2084831" cy="245059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17190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Europe PMC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39696"/>
            <a:ext cx="1719072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Ana açık erişimli biyomedikal yüzey; İngilizce için en güçlü varsayılan öncelik.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536192"/>
            <a:ext cx="2084831" cy="245059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737360"/>
            <a:ext cx="17190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OpenAlex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139696"/>
            <a:ext cx="1719072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Her iki dilde de kullanılan geniş meta veri kapsamı.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0528" y="1536192"/>
            <a:ext cx="2084831" cy="245059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1737360"/>
            <a:ext cx="17190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Semantic Scholar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139696"/>
            <a:ext cx="1719072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Ek keşif yolu ve duplicate farkındalıklı kanıt.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9176" y="1536192"/>
            <a:ext cx="2084831" cy="245059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92055" y="1737360"/>
            <a:ext cx="17190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DergiPark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92055" y="2139696"/>
            <a:ext cx="1719072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Temel Türkçe kaynak; Türkçede en yüksek statik öncelik.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15968"/>
            <a:ext cx="5349240" cy="1673352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553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73B4"/>
                </a:solidFill>
                <a:latin typeface="Aptos Display"/>
              </a:rPr>
              <a:t>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64608"/>
            <a:ext cx="4526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Varsayılan öncelik Europe PMC'yi, sonra OpenAlex'i öne çıkarır.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İngilizce composition frame'ler ve phrase havuzları dil kapsamlı kalır.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315968"/>
            <a:ext cx="5074920" cy="16733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5537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5B43"/>
                </a:solidFill>
                <a:latin typeface="Aptos Display"/>
              </a:rPr>
              <a:t>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864608"/>
            <a:ext cx="4343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Varsayılan öncelik DergiPark'ı, sonra OpenAlex ve Semantic Scholar'ı öne çıkarır.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Ayrı anchor, phrase ve feedback score yapıları Türkçe davranışı dil kapsamlı tutar.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Sorgu oluşturma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Crawler sabit bir sorgu listesine dayanmaz. Temel composition sorgularını, öğrenilmiş query phrase'leri ve dönen bir concept havuzunu birleştirir.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27632"/>
            <a:ext cx="1426464" cy="987552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20240"/>
            <a:ext cx="12070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Temel sorgular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76272" y="2304288"/>
            <a:ext cx="36576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42032" y="1627632"/>
            <a:ext cx="1426464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920240"/>
            <a:ext cx="12070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Concept havuzu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8496" y="2304288"/>
            <a:ext cx="36576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34256" y="1627632"/>
            <a:ext cx="1426464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1920240"/>
            <a:ext cx="12070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Phrase havuzu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304288"/>
            <a:ext cx="475488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36208" y="1627632"/>
            <a:ext cx="1627632" cy="987552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920240"/>
            <a:ext cx="14081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Öğrenilmiş sorgu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0" y="2304288"/>
            <a:ext cx="384048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47888" y="1627632"/>
            <a:ext cx="1993392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5" y="1920240"/>
            <a:ext cx="17739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Kaynak görevi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063240"/>
            <a:ext cx="5394960" cy="25603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401568"/>
            <a:ext cx="4590288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Dil-özgü temel composition şablonlarıyla başlar.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Food term'leri ve nutrient term'leri tek concept havuzunda iç içe geçirir.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Concept'leri önceki sonuçlardan öğrenilen concept_scores ile yeniden sıralar.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Çekirdek phrase'leri, daha uzun havuzdan küçük bir exploration bölümüyle karıştırır.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3063240"/>
            <a:ext cx="4919472" cy="256032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3101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5B43"/>
                </a:solidFill>
                <a:latin typeface="Aptos"/>
              </a:rPr>
              <a:t>Tam uygulama tercihleri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3657600"/>
            <a:ext cx="4251960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Ek phrase'ler için exploration oranı: phrase havuzunun yüzde 2'si.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Her dil için ayrı cursor korunur.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Nutrient odaklı öğrenilmiş sorgular mg/100g veya g/100g gibi birim çerçevesi ekler.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Sorgular arama görevi genişletmesinden önce normalize edilip eşsizleştirilir.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Arama görevi önceliklendirmesi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Sorgu oluşturulduktan sonra her sorgu kaynağa özgü arama görevlerine genişletilir ve çalıştırmadan önce sıralanır.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5394960" cy="457200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773B4"/>
                </a:solidFill>
                <a:latin typeface="Aptos Display"/>
              </a:rPr>
              <a:t>Öncelik puanı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12848"/>
            <a:ext cx="45720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E211F"/>
                </a:solidFill>
                <a:latin typeface="Consolas"/>
              </a:rPr>
              <a:t>priority_score = pair_score + batch_score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45262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pair_score = öğrenilmiş pair feedback + 0.15 x source_prior + statik kaynak önceliği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batch_score, tam batch key'in tarihsel performansından gelir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Görevler azalan sırada sıralanır ve çalıştırma bütçesine göre kesilir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81328"/>
            <a:ext cx="4892040" cy="457200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5B43"/>
                </a:solidFill>
                <a:latin typeface="Aptos Display"/>
              </a:rPr>
              <a:t>Dile göre statik kaynak önceliği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194560"/>
            <a:ext cx="420624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Consolas"/>
              </a:rPr>
              <a:t>EN:
Europe PMC +0.35
OpenAlex +0.15
Semantic Scholar +0.05
DergiPark -0.15
TR:
DergiPark +0.35
OpenAlex +0.20
Semantic Scholar +0.10
Europe PMC -0.30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4937760"/>
            <a:ext cx="4206240" cy="658368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5148072"/>
            <a:ext cx="3794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11F"/>
                </a:solidFill>
                <a:latin typeface="Aptos"/>
              </a:rPr>
              <a:t>Sistem dil stratejisini bu şekilde çalıştırma sırasına dönüştürür.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Arama kapısı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Arama kapısı ucuz bir ilk meta veri taramasıdır. Daha ağır meta veri filtresi ve edinim aşamalarından önce zayıf adayları reddeder.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5120640" cy="45262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5B43"/>
                </a:solidFill>
                <a:latin typeface="Aptos Display"/>
              </a:rPr>
              <a:t>Pozitif sinyaller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43891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İlk anchor/composition phrase eşleşmesi (+0.90)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İlk food term eşleşmesi (+0.35)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İlk nutrient term eşleşmesi (+0.35)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mg/100g veya g/100g gibi birim örüntüsü (+0.70)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Food + nutrient kombinasyon bonusu (+0.45)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81328"/>
            <a:ext cx="5120640" cy="4526280"/>
          </a:xfrm>
          <a:prstGeom prst="roundRect">
            <a:avLst/>
          </a:prstGeom>
          <a:solidFill>
            <a:srgbClr val="F5E1E1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55648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54B4B"/>
                </a:solidFill>
                <a:latin typeface="Aptos Display"/>
              </a:rPr>
              <a:t>Cezalar ve geçiş kuralı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48840"/>
            <a:ext cx="4407408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Eksik meta veri -&gt; -2.0 puanla doğrudan ret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Eksik özet cezası: -1.30 veya -0.45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Güçlü negatif sinyaller en fazla -2.5 ceza alır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Yumuşak negatifler en fazla -1.5 ceza alır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Sağlık sonucu terimleri en fazla -1.6 ceza alır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Geçiş eşiği: score &gt;= -0.35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Meta veri filtresi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Meta veri filtresi daha güçlü toplamsal karar katmanıdır. PDF ediniminden önce sözcüksel işaretleri, kaynak önceliklerini, embedding'leri ve feedback term'lerini birleştirir.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5413248" cy="45262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5B43"/>
                </a:solidFill>
                <a:latin typeface="Aptos Display"/>
              </a:rPr>
              <a:t>Temel kanıt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4663440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Composition phrase +1.35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Birim örüntüsü +1.25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Food hit +0.65 ve nutrient hit +0.65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Food + nutrient kombinasyonu +0.75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Eksik özet cezası -1.10 veya -0.35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Sağlık sonucu cezası en fazla -2.0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81328"/>
            <a:ext cx="4873752" cy="452628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7556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773B4"/>
                </a:solidFill>
                <a:latin typeface="Aptos Display"/>
              </a:rPr>
              <a:t>Öğrenilmiş ve anlamsal kanıt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187952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Tarihsel pozitif/negatif dengesinden gelen kaynak önceliği, +/-0.9 ile sınırlandırılır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Embedding benzerliği, benzerlik dil eşiğini aşarsa +1.45 ekler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Embedding benzerliği eşik üzerindeyse ek +0.75 eklenir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Feedback n-gram skoru toplanır ve +/-6.0 ile sınırlandırılır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Kabul eşiği: score &gt;= 1.75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Embedding katmanı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Embedding'ler bağımsız bir sınıflandırıcı değil, meta veri puanlamasının içindeki anlamsal destek katmanıdır.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3154680" cy="1874519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09928"/>
            <a:ext cx="2788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İngilizce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12264"/>
            <a:ext cx="278892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all-MiniLM-L6-v2
threshold = 0.45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08760"/>
            <a:ext cx="3246120" cy="1874519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709928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Türkçe / çok dilli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12264"/>
            <a:ext cx="288036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paraphrase-multilingual-MiniLM-L12-v2
threshold = 0.42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2672" y="1508760"/>
            <a:ext cx="3611880" cy="1874519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1709928"/>
            <a:ext cx="3246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Ortak kural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2112264"/>
            <a:ext cx="324612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Encoding'den önce meta veri metnini 1800 karaktere kırp.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675887"/>
            <a:ext cx="5120640" cy="23317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1363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5B43"/>
                </a:solidFill>
                <a:latin typeface="Aptos"/>
              </a:rPr>
              <a:t>Skor nasıl üretilir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279392"/>
            <a:ext cx="443484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Anchor phrase'leri feedback config'den yükle; gerekirse seed anchor'lara dön.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Aday başlık + özeti dil-özgü modelde encode et.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Tüm anchor'lara karşı normalize benzerliği hesapla ve en yüksek eşleşmeyi tut.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675887"/>
            <a:ext cx="5120640" cy="233172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913632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8137"/>
                </a:solidFill>
                <a:latin typeface="Aptos"/>
              </a:rPr>
              <a:t>Bu tasarım neden seçildi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279392"/>
            <a:ext cx="443484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Anchor'lar anlamsal hedefi dar tutar: genel beslenmeden çok composition odaklı.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İki model EN ve TR puanlamasını dil duyarlı tutar.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Bu katman, tam anahtar kelimelerin kaçırabileceği anlamsal olarak ilgili ifadeleri yakalar.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Geri besleme etiketleri ve eğitim kümeleri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Öğrenme döngüsü ham event toplamlarına değil, her annotator'ün görünen son durumuna dayanır.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417320"/>
            <a:ext cx="5687568" cy="48280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_2_feedback_data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1490472"/>
            <a:ext cx="5541264" cy="46817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1417320"/>
            <a:ext cx="4498848" cy="482803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00784"/>
            <a:ext cx="37947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Pozitif paper: has_data = true, food-item sayısı &gt; 0 ve nutrient-value sayısı &gt; 0 olan son draft veya done durumu.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Negatif paper: global definitely-no-data etiketi veya en az iki farklı skip kullanıcısı.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Çelişkili paper: hem pozitif hem negatif kanıt içerir; öğrenmeden çıkarılır.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İşleme, etiket kurulumu sonrası dil-özgü yürütülür.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04688"/>
            <a:ext cx="4069080" cy="45720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564184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Önemli nokta: geri besleme döngüsü uygulanmıştır, ancak çevrim içi değil toplu güncellenir.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Geri besleme sonraki çalıştırmalarda neyi değiştirir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Döngü hâlihazırda aktiftir. Geri besleme yalnızca saklanmaz; yeni bir config'e aktarılır ve bir sonraki crawler çalıştırması tarafından kullanılır.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01952"/>
            <a:ext cx="1417320" cy="96012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119786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Anotasyon çıktıları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350008"/>
            <a:ext cx="4572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51760" y="1901952"/>
            <a:ext cx="1600200" cy="96012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2176272"/>
            <a:ext cx="13807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Feedback export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1960" y="2350008"/>
            <a:ext cx="45720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09160" y="1901952"/>
            <a:ext cx="1417320" cy="96012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2176272"/>
            <a:ext cx="119786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latest.json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0" y="2350008"/>
            <a:ext cx="59436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20840" y="1901952"/>
            <a:ext cx="1508760" cy="9601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2176272"/>
            <a:ext cx="12893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Crawler başlangıcı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0" y="2350008"/>
            <a:ext cx="50292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2520" y="1901952"/>
            <a:ext cx="1874519" cy="96012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42248" y="2176272"/>
            <a:ext cx="165506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E211F"/>
                </a:solidFill>
                <a:latin typeface="Aptos Display"/>
              </a:rPr>
              <a:t>Sonraki arama davranışı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401568"/>
            <a:ext cx="5303520" cy="248716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30752"/>
            <a:ext cx="4526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query_phrases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anchor_phrases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weighted_terms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concept_scores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pair_scores, batch_scores, source_priors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401568"/>
            <a:ext cx="4864608" cy="2487168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730752"/>
            <a:ext cx="4206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Sonraki çalıştırmalar farklı phrase'leri farklı sıralarda arar.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Concept sıralaması hangi food veya nutrient'lerin önce birleşeceğini değiştirir.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Daha iyi verim veren source-query kombinasyonları kuyruğun üstüne çıkar.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Operasyonel kapanış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Refill betiği, annotator kuyruğu azaldığında algoritmik parçaları çalışan operasyonel bir döngüye dönüştüren bileşendir.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828800"/>
            <a:ext cx="1901952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1627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211F"/>
                </a:solidFill>
                <a:latin typeface="Aptos Display"/>
              </a:rPr>
              <a:t>EN/TR açıklarını kontrol et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88336" y="2322576"/>
            <a:ext cx="27432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62656" y="1828800"/>
            <a:ext cx="1901952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2075688"/>
            <a:ext cx="1627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211F"/>
                </a:solidFill>
                <a:latin typeface="Aptos Display"/>
              </a:rPr>
              <a:t>Feedback term'lerini yenile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64608" y="2322576"/>
            <a:ext cx="274319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38927" y="1828800"/>
            <a:ext cx="1901952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66943" y="2075688"/>
            <a:ext cx="1627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211F"/>
                </a:solidFill>
                <a:latin typeface="Aptos Display"/>
              </a:rPr>
              <a:t>DergiPark indeksini yenile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79" y="2322576"/>
            <a:ext cx="274320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199" y="1828800"/>
            <a:ext cx="1901952" cy="98755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075688"/>
            <a:ext cx="1627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211F"/>
                </a:solidFill>
                <a:latin typeface="Aptos Display"/>
              </a:rPr>
              <a:t>crawler v2 çalıştır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17151" y="2322576"/>
            <a:ext cx="274321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91472" y="1828800"/>
            <a:ext cx="1901952" cy="9875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9488" y="2075688"/>
            <a:ext cx="1627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E211F"/>
                </a:solidFill>
                <a:latin typeface="Aptos Display"/>
              </a:rPr>
              <a:t>Kabul edilen PDF'leri yükle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56432"/>
            <a:ext cx="5303520" cy="23317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822191"/>
            <a:ext cx="452628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Sistem paper stoğu hedefin altına düştüğünde tepki verebilir.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Feedback yenilemesi varsayılan olarak refill döngüsünün parçasıdır.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DergiPark yenilemesi Türkçe havuzu yenilenebilir tutar.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56432"/>
            <a:ext cx="4754880" cy="233172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3730752"/>
            <a:ext cx="406908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11F"/>
                </a:solidFill>
                <a:latin typeface="Aptos"/>
              </a:rPr>
              <a:t>Buradaki en güçlü cümle şudur: “Mevcut sistem yalnızca deneysel değil, operasyoneldir: geri beslemeyi yenileyebilir, yeni makaleler arayabilir ve kabul edilen PDF'leri tekrar annotator hattına itebilir.”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Yapay zeka açısından ilgili arayüz etkileşimi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Frontend yalnızca veri girişi değildir. Erişim katmanının daha sonra öğrenebileceği yapılandırılmış kanıtı da yakalar.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3401568" cy="448056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82496"/>
            <a:ext cx="3035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PDF highlight ve tıklama çözümleme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84832"/>
            <a:ext cx="3035808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Nutrient adları sınır duyarlı regex kalıplarıyla eşleştirilir, mark etiketlerine sarılır ve PDF.js text layer düzensiz davrandığında direct-target, elementsFromPoint veya caret tabanlı fallback ile açılır.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81328"/>
            <a:ext cx="3401568" cy="448056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82496"/>
            <a:ext cx="3035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Hızlı ekleme popover'ı ve yapılandırılmış kayıt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84832"/>
            <a:ext cx="3035808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Tıklanan nutrient, highlight yanında bir popover açar; değer ve birim alır ve mevcut food-item formuna yapılandırılmış nutrient satırı ekler.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481328"/>
            <a:ext cx="3218688" cy="448056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1682496"/>
            <a:ext cx="2852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Autocomplete sıralaması ve telemetri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2084832"/>
            <a:ext cx="2852928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Food ve nutrient aramaları özel sıralama kuralları kullanır; search_sessions ise yazılan sorguları, gösterilen seçenekleri, seçilen seçenekleri ve terk edilen durumları kaydeder.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Mevcut durum ve kapsam sınırı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Bu slayt aşırı iddiaya kaçmadan teknik olarak güçlü kalmak içindir.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81328"/>
            <a:ext cx="5303520" cy="457200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95B43"/>
                </a:solidFill>
                <a:latin typeface="Aptos Display"/>
              </a:rPr>
              <a:t>Şu anda uygulananlar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45262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Europe PMC, OpenAlex, Semantic Scholar ve DergiPark üzerinde çok kaynaklı arama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Edinimden önce arama kapısı ve daha güçlü meta veri filtresi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Meta veri puanlaması içinde çift model embedding desteği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Sonraki çalıştırmaları değiştiren toplu güncellenmiş geri besleme döngüsü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Paper stoğuna bağlı operasyonel refill döngüsü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81328"/>
            <a:ext cx="4983480" cy="457200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5564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8137"/>
                </a:solidFill>
                <a:latin typeface="Aptos Display"/>
              </a:rPr>
              <a:t>Arasınavda iddia edilmeyenler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2519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Henüz query ranking için eğitilmiş sınıflandırıcı yok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LLM tabanlı search-term ranking yok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Mevcut döngüde tam otomatik extraction pipeline yok</a:t>
            </a:r>
          </a:p>
          <a:p>
            <a:pPr>
              <a:spcAft>
                <a:spcPts val="700"/>
              </a:spcAft>
              <a:defRPr sz="1400">
                <a:solidFill>
                  <a:srgbClr val="1E211F"/>
                </a:solidFill>
                <a:latin typeface="Aptos"/>
              </a:defRPr>
            </a:pPr>
            <a:r>
              <a:t>Document segmentation ve extraction ikinci döneme ertelenmiştir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Savunma özeti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Tüm yapay zeka hikâyesini birkaç iddiaya sıkıştırmak gerekseydi, güçlü biçimde savunulması gerekenler bunlardır.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00200"/>
            <a:ext cx="3474720" cy="36118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0136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İddia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03704"/>
            <a:ext cx="3108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Sistem edinimden önce aşamalı filtreleme yapar. Uzman zamanının her getirilen paper üzerinde boşa gitmemesinin temel nedeni budur.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361188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0136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İddia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03704"/>
            <a:ext cx="31089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İngilizce ve Türkçe ayrı erişim havuzlarıdır. Bu yalnızca sunum detayı değil, gerçek bir teknik karardır ve DergiPark bu stratejinin parçasıdır.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600200"/>
            <a:ext cx="3200400" cy="361188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801368"/>
            <a:ext cx="2834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İddia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203704"/>
            <a:ext cx="28346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Geri besleme döngüsü şu anda uygulanmıştır. Sonraki çalıştırmalar için phrase'leri, weighted term'leri ve source/query önceliklerini günceller.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5504688"/>
            <a:ext cx="9829800" cy="47548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641848"/>
            <a:ext cx="9326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Zorlanırsanız bu üç iddiaya geri dönün ve sonra tek bir somut uygulama detayıyla cevap verin.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Ek: uygulama ayrıntıları ve soru-cevap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Sonraki slaytlar uzun kurul soruları için tasarlanmıştır.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10561320" cy="448056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E211F"/>
                </a:solidFill>
                <a:latin typeface="Aptos Display"/>
              </a:rPr>
              <a:t>Ek: uygulama ayrıntıları ve soru-cevap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07792"/>
            <a:ext cx="8778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585F5B"/>
                </a:solidFill>
                <a:latin typeface="Aptos"/>
              </a:rPr>
              <a:t>Ek bölüm; şema kesitlerine, tam eşiklere, feedback kurallarına, arayüz iç yapısına ve kuruldan gelebilecek yaygın sorular için güvenli cevaplara daha derin iner.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Ek A. Kaynaklar ve dil stratejisi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Bu, birden fazla kaynak kullanmanın ve EN ile TR'yi tek sıralama havuzunda birleştirmemenin ayrıntılı gerekçesidir.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08760"/>
            <a:ext cx="6537960" cy="45262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28800"/>
            <a:ext cx="56692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Europe PMC açık erişimli biyomedikal kapsama sağlar ve İngilizce için en güçlü varsayılan yüzeydir.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OpenAlex meta veri kapsamını genişletir ve PMC kapsamı zayıfken her iki dili destekler.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Semantic Scholar başka bir keşif yolu ve duplicate farkındalıklı kanıt ekler.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DergiPark temel Türkçe kaynaktır ve dile özgü Türkçe iş akışını gerekçelendirir.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3703320" cy="452628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1828800"/>
            <a:ext cx="292608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Farklı kaynak görünürlüğü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Farklı term yüzeyleri ve composition phrasing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Farklı source prior'lar ve statik öncelikler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Farklı anchor ve query-phrase havuzları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Ek B. Tam ağırlıklar ve eşikler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Bunlar iki ana sıralama aşaması için uygulanmış sabitlerdir.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5257800" cy="443484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95B43"/>
                </a:solidFill>
                <a:latin typeface="Aptos"/>
              </a:rPr>
              <a:t>Arama kapısı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194560"/>
            <a:ext cx="44805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11F"/>
                </a:solidFill>
                <a:latin typeface="Consolas"/>
              </a:rPr>
              <a:t>composition phrase        +0.90
food term                +0.35
nutrient term            +0.35
unit pattern             +0.70
food + nutrient combo    +0.45
missing metadata         -2.00 ret
missing abstract         -1.30 veya -0.45
strong negatives         en fazla -2.50
soft negatives           en fazla -1.50
health terms             en fazla -1.60
geçiş için score &gt;= -0.35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572768"/>
            <a:ext cx="4983480" cy="443484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8105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773B4"/>
                </a:solidFill>
                <a:latin typeface="Aptos"/>
              </a:rPr>
              <a:t>Meta veri filtresi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94560"/>
            <a:ext cx="4206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11F"/>
                </a:solidFill>
                <a:latin typeface="Consolas"/>
              </a:rPr>
              <a:t>composition phrase        +1.35
unit pattern             +1.25
food hit                 +0.65
nutrient hit             +0.65
food + nutrient combo    +0.75
embedding above threshold +1.45
embedding positive bonus +0.75
source prior clamp       +/-0.90
feedback term clamp      +/-2.50
feedback score clamp     +/-6.00
kabul için score &gt;= 1.75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Ek C. Feedback puanlama ayrıntısı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Bu slayt, feedback updater tarafından kullanılan tam etiket kurallarını ve term ranking mantığını birleştirir.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5212080" cy="443484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28800"/>
            <a:ext cx="44348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Pozitif = has_data = true ve gerçek yapılandırılmış satırlara sahip son draft/done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Negatif = global definitely-no-data veya en az iki farklı skip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Çatışma = hem pozitif hem negatif kanıt, öğrenmeden çıkarılır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315968"/>
            <a:ext cx="4526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11F"/>
                </a:solidFill>
                <a:latin typeface="Consolas"/>
              </a:rPr>
              <a:t>query_rank = 1.75*title_good + 0.75*title_net + 0.35*ta_net - max(0, title_bad)
anchor_rank = 1.25*title_good + 1.0*ta_good + 0.5*title_net + 0.25*ta_net - max(0, title_bad)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72768"/>
            <a:ext cx="5029200" cy="443484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828800"/>
            <a:ext cx="42976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n-gram'ler başlıklardan ve başlık+özetten ayrı ayrı çıkarılır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pozitif, negatif ve arka plan belge frekansları log-odds benzeri puanlamayla karşılaştırılır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query_phrases varsayılan üst sınır = 64, anchor_phrases varsayılan üst sınır = 16</a:t>
            </a:r>
          </a:p>
          <a:p>
            <a:pPr>
              <a:spcAft>
                <a:spcPts val="700"/>
              </a:spcAft>
              <a:defRPr sz="1200">
                <a:solidFill>
                  <a:srgbClr val="1E211F"/>
                </a:solidFill>
                <a:latin typeface="Aptos"/>
              </a:defRPr>
            </a:pPr>
            <a:r>
              <a:t>weighted_terms tam scored-term yükünü sonraki meta veri puanlamasına taşır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Ek D. Pair, batch ve concept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Feedback exporter phrase'lerden fazlasını öğrenir: hangi source-query kombinasyonlarının ve concept term'lerinin daha iyi sonuç ürettiğini de öğrenir.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27632"/>
            <a:ext cx="3456432" cy="425196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30906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Pair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31136"/>
            <a:ext cx="309067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Search hit'leri source + template_id + source_term ile grupla.
Score = novel_positive_count / retrieved.
Ayrıca source_priors = log((positive + 1) / (negative + 1)) olarak türetilir.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27632"/>
            <a:ext cx="3456432" cy="425196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28800"/>
            <a:ext cx="30906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Batch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31136"/>
            <a:ext cx="309067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paper_search_batches ve paper_search_batch_hits üzerinde batch_key ile grupla.
Score = positive_count / retrieved.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627632"/>
            <a:ext cx="3246120" cy="425196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828800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Concept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231136"/>
            <a:ext cx="2880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source_term ile grupla.
Score = (positive_count - negative_count) / retrieved.
Bu daha sonra concept havuzunu yeniden sıralar.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Ek E. Edinim ve doğrulama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Meta veri kabulünden sonra bile, paper'ların kabul edilmiş kayda dönüşmeden önce sağlam bir PDF yoluna ve tam metin doğrulama adımına ihtiyacı vardır.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36192"/>
            <a:ext cx="10469880" cy="1170432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828800"/>
            <a:ext cx="1645920" cy="566928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84248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211F"/>
                </a:solidFill>
                <a:latin typeface="Aptos"/>
              </a:rPr>
              <a:t>dedupe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78608" y="2112264"/>
            <a:ext cx="256032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1828800"/>
            <a:ext cx="1645920" cy="56692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984248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211F"/>
                </a:solidFill>
                <a:latin typeface="Aptos"/>
              </a:rPr>
              <a:t>metadata kabul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60" y="2112264"/>
            <a:ext cx="256032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36592" y="1828800"/>
            <a:ext cx="1645920" cy="566928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1" y="1984248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211F"/>
                </a:solidFill>
                <a:latin typeface="Aptos"/>
              </a:rPr>
              <a:t>PDF fetch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82512" y="2112264"/>
            <a:ext cx="256032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38544" y="1828800"/>
            <a:ext cx="1645920" cy="566928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9983" y="1984248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211F"/>
                </a:solidFill>
                <a:latin typeface="Aptos"/>
              </a:rPr>
              <a:t>pdftotext doğrulama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4464" y="2112264"/>
            <a:ext cx="256032" cy="0"/>
          </a:xfrm>
          <a:prstGeom prst="line">
            <a:avLst/>
          </a:prstGeom>
          <a:ln w="25400">
            <a:solidFill>
              <a:srgbClr val="295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0496" y="1828800"/>
            <a:ext cx="1645920" cy="566928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1936" y="1984248"/>
            <a:ext cx="1463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E211F"/>
                </a:solidFill>
                <a:latin typeface="Aptos"/>
              </a:rPr>
              <a:t>manifest + upload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127248"/>
            <a:ext cx="5120640" cy="28346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493008"/>
            <a:ext cx="4389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Önce OA XML ve doğrudan PDF bağlantılarını dene.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Doğrudan bağlantı başarısız olursa paket çıkarımı veya HTML'den keşfedilen bağlantıları kullan.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Kararsız kaynak davranışı için curl / fallback yollarını kullan.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127248"/>
            <a:ext cx="5074920" cy="283464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493008"/>
            <a:ext cx="4343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Tam metni pdftotext ile çıkar.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Composition çerçevesini, tablo/metot kanıtını, nutrient-birim sinyallerini ve food işaretlerini kontrol et.</a:t>
            </a:r>
          </a:p>
          <a:p>
            <a:pPr>
              <a:spcAft>
                <a:spcPts val="700"/>
              </a:spcAft>
              <a:defRPr sz="1300">
                <a:solidFill>
                  <a:srgbClr val="1E211F"/>
                </a:solidFill>
                <a:latin typeface="Aptos"/>
              </a:defRPr>
            </a:pPr>
            <a:r>
              <a:t>Tam metin yararlılık kontrollerini yine de geçemeyen adayları reddet.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Ek F. Yapay zeka açısından ilgili arayüz iç yapısı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Kurul insan etkileşiminin nasıl yapılandırılmış sinyallere dönüştüğünü sorduğunda bu ayrıntılar önemlidir.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3383280" cy="443484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73936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PDF highlight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30175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Sınır duyarlı nutrient regex kalıpları oluştur, render sonrası PDF.js text span'lerini tara, eşleşmeleri mark etiketlerine sar ve kısa nutrient adlarının uzun olanları bozmaması için çakışmaları çöz.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72768"/>
            <a:ext cx="3401568" cy="4434840"/>
          </a:xfrm>
          <a:prstGeom prst="roundRect">
            <a:avLst/>
          </a:prstGeom>
          <a:solidFill>
            <a:srgbClr val="DFE9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73936"/>
            <a:ext cx="30358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Tıklama çözümleme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76272"/>
            <a:ext cx="3035808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Önce doğrudan event target'ı dene, sonra elementsFromPoint'e, sonra caretPositionFromPoint veya caretRangeFromPoint'a dön; çünkü PDF.js text layer'ları normal HTML gibi davranmaz.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72768"/>
            <a:ext cx="3182112" cy="443484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73936"/>
            <a:ext cx="28163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11F"/>
                </a:solidFill>
                <a:latin typeface="Aptos Display"/>
              </a:rPr>
              <a:t>Autocomplete ve telemetri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76272"/>
            <a:ext cx="2816352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Food ve nutrient autocomplete özel sıralama kuralları kullanır; search_sessions ise yazılan sorguları, gösterilen seçenekleri, seçilen seçenekleri, durumu ve zaman damgalarını kaydeder.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Ek G. Denetlenmiş örnek çalıştırma özeti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Bu slayt, örnek çalıştırmanın katı bir huni gibi yanlış okunmaması için aşama sayılarını kayıtlı edinim çıktılarından bilinçli olarak ayırır.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5321808" cy="44348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95B43"/>
                </a:solidFill>
                <a:latin typeface="Aptos"/>
              </a:rPr>
              <a:t>Aşama sayıları (TR canlı çalıştırma 2026-03-30)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585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Ham hit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2286000"/>
            <a:ext cx="242316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70632" y="2286000"/>
            <a:ext cx="2423160" cy="237744"/>
          </a:xfrm>
          <a:prstGeom prst="rect">
            <a:avLst/>
          </a:prstGeom>
          <a:solidFill>
            <a:srgbClr val="47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22494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157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Arama kapısını geçti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2743200"/>
            <a:ext cx="242316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0632" y="2743200"/>
            <a:ext cx="2337837" cy="23774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27066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137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1729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Meta veri filtresini geçti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0632" y="3200400"/>
            <a:ext cx="242316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70632" y="3200400"/>
            <a:ext cx="1331031" cy="23774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31638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877056"/>
            <a:ext cx="4526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5F5B"/>
                </a:solidFill>
                <a:latin typeface="Aptos"/>
              </a:rPr>
              <a:t>Bu sayılar manifest özetinden gelir ve metadata_pass aşamasına kadar aşama sayıları olarak geçerlidir.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572768"/>
            <a:ext cx="4919472" cy="4434840"/>
          </a:xfrm>
          <a:prstGeom prst="roundRect">
            <a:avLst/>
          </a:prstGeom>
          <a:solidFill>
            <a:srgbClr val="F4E5D3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181051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8137"/>
                </a:solidFill>
                <a:latin typeface="Aptos"/>
              </a:rPr>
              <a:t>Kayıtlı edinim çıktıları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2585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PDF fetch başarısız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2286000"/>
            <a:ext cx="214884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2286000"/>
            <a:ext cx="881575" cy="23774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43032" y="22494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7157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PDF doğrulama başarısız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2743200"/>
            <a:ext cx="214884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2743200"/>
            <a:ext cx="854026" cy="237744"/>
          </a:xfrm>
          <a:prstGeom prst="rect">
            <a:avLst/>
          </a:prstGeom>
          <a:solidFill>
            <a:srgbClr val="A5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43032" y="27066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1729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Kabul edildi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3200400"/>
            <a:ext cx="214884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40" y="3200400"/>
            <a:ext cx="109728" cy="237744"/>
          </a:xfrm>
          <a:prstGeom prst="rect">
            <a:avLst/>
          </a:prstGeom>
          <a:solidFill>
            <a:srgbClr val="295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43032" y="31638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63016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E211F"/>
                </a:solidFill>
                <a:latin typeface="Aptos"/>
              </a:rPr>
              <a:t>Manifestte terminal sonuç yok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3657600"/>
            <a:ext cx="2148840" cy="237744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21040" y="3657600"/>
            <a:ext cx="330590" cy="237744"/>
          </a:xfrm>
          <a:prstGeom prst="rect">
            <a:avLst/>
          </a:prstGeom>
          <a:solidFill>
            <a:srgbClr val="477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43032" y="36210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4315968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E211F"/>
                </a:solidFill>
                <a:latin typeface="Aptos"/>
              </a:rPr>
              <a:t>Önemli denetim notu: Bu manifestte 78 metadata-pass aday vardır, ancak bunların yalnızca 66'sının kayıtlı terminal sonucu vardır. Bu nedenle bu örnek katı bir huni olarak sunulmamalıdır.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8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19088"/>
            <a:ext cx="4754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85F5B"/>
                </a:solidFill>
                <a:latin typeface="Aptos"/>
              </a:rPr>
              <a:t>OpenNutri | Yapay zeka / algoritma ana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419088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85F5B"/>
                </a:solidFill>
                <a:latin typeface="Aptos"/>
              </a:rPr>
              <a:t>TR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E211F"/>
                </a:solidFill>
                <a:latin typeface="Aptos Display"/>
              </a:rPr>
              <a:t>Ek H. Olası sorular ve güvenli cevaplar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859536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85F5B"/>
                </a:solidFill>
                <a:latin typeface="Aptos"/>
              </a:rPr>
              <a:t>Baskı altında geri dönülmesi gereken kısa cevaplar bunlardır.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5285232" cy="44348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11F"/>
                </a:solidFill>
                <a:latin typeface="Aptos"/>
              </a:rPr>
              <a:t>S: Geri besleme döngüsü uygulanmış mı?
C: Evet. Toplu güncelleniyor, çevrim içi değil ve sonraki crawler çalıştırmalarını şimdiden değiştiriyor.
S: Search term'leri sıralamak için LLM kullanıyor musunuz?
C: Hayır. Search-term ranking, LLM değil, feedback güdümlü istatistiksel puanlamadır.
S: Query ranking için model eğittiniz mi?
C: Henüz değil. Mevcut sistem, eğitilmiş sınıflandırıcıdan çok feedback istatistikleri ve embedding'lerle öğreniyor.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72768"/>
            <a:ext cx="4919472" cy="4434840"/>
          </a:xfrm>
          <a:prstGeom prst="roundRect">
            <a:avLst/>
          </a:prstGeom>
          <a:solidFill>
            <a:srgbClr val="D7E8DC"/>
          </a:solidFill>
          <a:ln w="12700">
            <a:solidFill>
              <a:srgbClr val="CDC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810512"/>
            <a:ext cx="42519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211F"/>
                </a:solidFill>
                <a:latin typeface="Aptos"/>
              </a:rPr>
              <a:t>S: Neden her şeyi indirmiyorsunuz?
C: Çünkü meta veri filtreleme çok daha ucuzdur ve uzman zamanını korur.
S: Neden İngilizce ve Türkçeyi ayırıyorsunuz?
C: Çünkü kaynak kapsamı, terminoloji ve kaynak öncelikleri farklıdır.
S: Neden yalnızca embedding değil?
C: Birimler, composition phrase'ler ve food/nutrient kombinasyonları gibi alan ipuçları görmezden gelinemeyecek kadar değerlidir.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