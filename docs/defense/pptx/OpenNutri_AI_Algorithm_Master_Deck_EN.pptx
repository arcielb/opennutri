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868680"/>
            <a:ext cx="329184" cy="4846320"/>
          </a:xfrm>
          <a:prstGeom prst="round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841248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11F"/>
                </a:solidFill>
                <a:latin typeface="Aptos Display"/>
              </a:rPr>
              <a:t>OpenNutri AI / Algorithm Master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55648"/>
            <a:ext cx="5669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Midterm exposition deck | Retrieval, ranking, bilingual search, and feedback reuse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359152"/>
            <a:ext cx="4892040" cy="21945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6151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5B43"/>
                </a:solidFill>
                <a:latin typeface="Aptos"/>
              </a:rPr>
              <a:t>Role framing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889504"/>
            <a:ext cx="42519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Retrieval design across multiple scientific sources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Ranking logic before PDF acquisition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EN/TR language split and Turkish-source support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Feedback reuse from annotation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960120"/>
            <a:ext cx="5074920" cy="49834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5B43"/>
                </a:solidFill>
                <a:latin typeface="Aptos"/>
              </a:rPr>
              <a:t>Main midterm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719072"/>
            <a:ext cx="4251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11F"/>
                </a:solidFill>
                <a:latin typeface="Aptos Display"/>
              </a:rPr>
              <a:t>OpenNutri already operates as a closed loop linking search, filtering, PDF acquisition, annotation, and feedback reuse.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3822191"/>
            <a:ext cx="4343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85F5B"/>
                </a:solidFill>
                <a:latin typeface="Aptos"/>
              </a:rPr>
              <a:t>This deck explains that loop from the AI / algorithm side, then goes deeper into the implementation details likely to matter in the defense.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Why this layer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algorithmic problem is not merely collecting papers; it is deciding which papers deserve download and expert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63040"/>
            <a:ext cx="2990088" cy="43708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609344"/>
            <a:ext cx="822960" cy="310896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6813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29968"/>
            <a:ext cx="2624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Distributed 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32304"/>
            <a:ext cx="2624328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Relevant food-composition papers are spread across Europe PMC, OpenAlex, Semantic Scholar, DergiPark, and local open-access paths. A single-source strategy misses too much.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5072" y="1463040"/>
            <a:ext cx="2990088" cy="43708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9663" y="1609344"/>
            <a:ext cx="822960" cy="310896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6813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029968"/>
            <a:ext cx="2624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High acquisition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432304"/>
            <a:ext cx="2624328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Blindly downloading every candidate PDF is expensive, noisy, and wasteful. The system needs ranking before acquisition, not only after download.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1463040"/>
            <a:ext cx="2990088" cy="43708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1504" y="1609344"/>
            <a:ext cx="822960" cy="310896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6813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2029968"/>
            <a:ext cx="2624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Turkish visibility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2432304"/>
            <a:ext cx="2624328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Turkish studies are underrepresented in standard international food-data systems. Retrieval therefore needs explicit EN/TR separation and Turkish-source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43600"/>
            <a:ext cx="10533888" cy="384048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6035040"/>
            <a:ext cx="10058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11F"/>
                </a:solidFill>
                <a:latin typeface="Aptos"/>
              </a:rPr>
              <a:t>Goal of the AI layer: maximize useful paper flow to the annotator while preserving recall and avoiding unnecessary PDF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What OpenNutri is at midterm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For the AI role, the important point is that the project is one connected loop rather than a separate scraper, backend, and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325880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1143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Search sources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32257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1828800"/>
            <a:ext cx="1325880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084831"/>
            <a:ext cx="1143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Search 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322576"/>
            <a:ext cx="320039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77639" y="1828800"/>
            <a:ext cx="1417320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79" y="2084831"/>
            <a:ext cx="1234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Metadata filter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4959" y="2322576"/>
            <a:ext cx="320041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15000" y="1828800"/>
            <a:ext cx="1325880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084831"/>
            <a:ext cx="1143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PDF intake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2322576"/>
            <a:ext cx="41148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52360" y="1828800"/>
            <a:ext cx="1508760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084831"/>
            <a:ext cx="1325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Expert annotation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0" y="232257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89720" y="1828800"/>
            <a:ext cx="1600200" cy="987552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084831"/>
            <a:ext cx="1417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Feedback update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429000"/>
            <a:ext cx="5212080" cy="233172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675887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5B43"/>
                </a:solidFill>
                <a:latin typeface="Aptos"/>
              </a:rPr>
              <a:t>What it 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968496"/>
            <a:ext cx="452628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A human-in-the-loop scientific paper discovery system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A shared data contract between crawler, storage, and annotation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A feedback-driven retrieval system that changes later runs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429000"/>
            <a:ext cx="5120640" cy="233172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75887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68137"/>
                </a:solidFill>
                <a:latin typeface="Aptos"/>
              </a:rPr>
              <a:t>What it is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968496"/>
            <a:ext cx="446227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Not a one-shot scraper that downloads everything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Not only a database schema or only a labeling UI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Not yet a fully automatic extraction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End-to-end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architecture already links discovery, storage, annotation, and later feedback reuse. This is the system map for the rest of the 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5806440" cy="486460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1_system_architectur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90472"/>
            <a:ext cx="5660136" cy="47183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1417320"/>
            <a:ext cx="4407408" cy="486460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8249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5B43"/>
                </a:solidFill>
                <a:latin typeface="Aptos"/>
              </a:rPr>
              <a:t>How to read this 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48256"/>
            <a:ext cx="3749039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Search sources produce metadata candidates.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The crawler decides which candidates deserve acquisition.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Accepted papers move into Supabase storage and paper records.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The annotator creates structured food-item and nutrient evidence.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Label events and global labels later feed the next retrieval 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504688"/>
            <a:ext cx="4069080" cy="45720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64184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Main defense point: the AI layer is connected to real user decisions, not isolated from the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Shared data model relevant to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retrieval layer depends on papers, search evidence, user events, and a shared vocabulary.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417320"/>
            <a:ext cx="5742432" cy="48280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3_database_schema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90472"/>
            <a:ext cx="5596128" cy="46817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1417320"/>
            <a:ext cx="4407408" cy="48280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00784"/>
            <a:ext cx="3749039" cy="3822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Reference vocabulary: entities, aliases, and master nutrients are reused by both retrieval and annotation.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Paper intake: papers store accepted PDF-level records available to the UI.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Search evidence: paper_search_hits, paper_search_batches, and paper_search_batch_hits preserve why a paper entered the system.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Feedback evidence: paper_label_events, paper_global_labels, and search_sessions preserve user behavior for later ranking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32120"/>
            <a:ext cx="4069080" cy="475488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566928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Important distinction: raw search evidence is stored separately from accepted paper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Search layer and language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crawler is multi-source by design, and it treats English and Turkish as different retrieval environments rather than one merged pool.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36192"/>
            <a:ext cx="2084831" cy="24505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17190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Europe PMC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39696"/>
            <a:ext cx="171907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Main open-access biomedical surface; strongest default bias for English.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536192"/>
            <a:ext cx="2084831" cy="24505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737360"/>
            <a:ext cx="17190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OpenAlex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39696"/>
            <a:ext cx="171907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Broad metadata coverage used in both languages.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1536192"/>
            <a:ext cx="2084831" cy="24505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1737360"/>
            <a:ext cx="17190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Semantic Scholar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139696"/>
            <a:ext cx="171907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Additional discovery path and duplicate-aware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9176" y="1536192"/>
            <a:ext cx="2084831" cy="245059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92055" y="1737360"/>
            <a:ext cx="17190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DergiPark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2055" y="2139696"/>
            <a:ext cx="171907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Essential Turkish source; highest static bias in Turkish.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15968"/>
            <a:ext cx="5349240" cy="1673352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553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73B4"/>
                </a:solidFill>
                <a:latin typeface="Aptos Display"/>
              </a:rPr>
              <a:t>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64608"/>
            <a:ext cx="4526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Default bias favors Europe PMC, then OpenAlex.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English composition frames and phrase pools stay language-scoped.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315968"/>
            <a:ext cx="5074920" cy="16733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553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5B43"/>
                </a:solidFill>
                <a:latin typeface="Aptos Display"/>
              </a:rPr>
              <a:t>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864608"/>
            <a:ext cx="4343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Default bias favors DergiPark, then OpenAlex and Semantic Scholar.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Separate anchors, phrases, and feedback scores keep Turkish behavior language-scoped.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Query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crawler does not rely on a fixed query list. It mixes base composition queries, learned query phrases, and a rotating concept pool.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27632"/>
            <a:ext cx="1426464" cy="987552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20240"/>
            <a:ext cx="12070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Base queries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76272" y="2304288"/>
            <a:ext cx="36576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42032" y="1627632"/>
            <a:ext cx="1426464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920240"/>
            <a:ext cx="12070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Concept pool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8496" y="2304288"/>
            <a:ext cx="36576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34256" y="1627632"/>
            <a:ext cx="1426464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920240"/>
            <a:ext cx="12070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Phrase pool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304288"/>
            <a:ext cx="475488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6208" y="1627632"/>
            <a:ext cx="1627632" cy="987552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920240"/>
            <a:ext cx="14081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Learned query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0" y="2304288"/>
            <a:ext cx="384048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47888" y="1627632"/>
            <a:ext cx="1993392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5" y="1920240"/>
            <a:ext cx="17739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Source task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063240"/>
            <a:ext cx="5394960" cy="25603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401568"/>
            <a:ext cx="4590288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Start with language-specific base composition templates.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Interleave food terms and nutrient terms in one concept pool.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Reorder concepts using concept_scores learned from previous outcomes.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Mix core phrases with a small exploration slice from the longer phrase pool.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3063240"/>
            <a:ext cx="4919472" cy="256032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3101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5B43"/>
                </a:solidFill>
                <a:latin typeface="Aptos"/>
              </a:rPr>
              <a:t>Exact implementation choices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3657600"/>
            <a:ext cx="4251960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Exploration rate for extra phrases: 2 percent of the phrase pool.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Separate cursors are preserved per language.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Nutrient learned queries add unit framing such as mg/100g or g/100g.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Queries are normalized and deduplicated before search-task expansion.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Search-task prioritization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After query construction, each query is expanded into source-specific search tasks and ranked before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5394960" cy="457200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773B4"/>
                </a:solidFill>
                <a:latin typeface="Aptos Display"/>
              </a:rPr>
              <a:t>Priority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1284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Consolas"/>
              </a:rPr>
              <a:t>priority_score = pair_score + batch_score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4526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pair_score = learned pair feedback + 0.15 x source_prior + static source bias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batch_score comes from historical performance of the exact batch key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Tasks are sorted descending and truncated to the run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4892040" cy="45720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5B43"/>
                </a:solidFill>
                <a:latin typeface="Aptos Display"/>
              </a:rPr>
              <a:t>Static source bias by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94560"/>
            <a:ext cx="420624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Consolas"/>
              </a:rPr>
              <a:t>EN:
Europe PMC +0.35
OpenAlex +0.15
Semantic Scholar +0.05
DergiPark -0.15
TR:
DergiPark +0.35
OpenAlex +0.20
Semantic Scholar +0.10
Europe PMC -0.30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4937760"/>
            <a:ext cx="4206240" cy="658368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5148072"/>
            <a:ext cx="3794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11F"/>
                </a:solidFill>
                <a:latin typeface="Aptos"/>
              </a:rPr>
              <a:t>This is how the system turns language strategy into execution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Search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search gate is a cheap first-pass metadata screen. It rejects weak candidates before the heavier metadata filter and acquisition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5120640" cy="45262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5B43"/>
                </a:solidFill>
                <a:latin typeface="Aptos Display"/>
              </a:rPr>
              <a:t>Positive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43891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First anchor/composition phrase hit (+0.90)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First food term hit (+0.35)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First nutrient term hit (+0.35)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Unit pattern such as mg/100g or g/100g (+0.70)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Food + nutrient combo bonus (+0.45)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81328"/>
            <a:ext cx="5120640" cy="4526280"/>
          </a:xfrm>
          <a:prstGeom prst="roundRect">
            <a:avLst/>
          </a:prstGeom>
          <a:solidFill>
            <a:srgbClr val="F5E1E1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55648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54B4B"/>
                </a:solidFill>
                <a:latin typeface="Aptos Display"/>
              </a:rPr>
              <a:t>Penalties and pass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48840"/>
            <a:ext cx="4407408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Missing metadata -&gt; immediate reject with score -2.0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Missing abstract penalty: -1.30 or -0.45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Strong negative signals penalized up to -2.5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Soft negatives penalized up to -1.5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Health-outcome terms penalized up to -1.6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Pass threshold: score &gt;= -0.35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Metadata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metadata filter is the stronger additive decision layer. It combines lexical cues, source priors, embeddings, and feedback terms before PDF acquisition.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5413248" cy="45262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5B43"/>
                </a:solidFill>
                <a:latin typeface="Aptos Display"/>
              </a:rPr>
              <a:t>Core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4663440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Composition phrase +1.35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Unit pattern +1.25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Food hit +0.65 and nutrient hit +0.65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Food + nutrient combo +0.75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Missing abstract penalty -1.10 or -0.35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Health-outcome penalty capped at -2.0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81328"/>
            <a:ext cx="4873752" cy="452628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7556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73B4"/>
                </a:solidFill>
                <a:latin typeface="Aptos Display"/>
              </a:rPr>
              <a:t>Learned and semantic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187952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Source prior from historical positive/negative balance, clamped to +/-0.9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Embedding similarity adds +1.45 if similarity crosses the language threshold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An extra +0.75 is added when embedding similarity is above threshold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Feedback n-gram score is summed and clamped to +/-6.0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Accept threshold: score &gt;= 1.75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Embedding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Embeddings are a semantic support layer inside metadata scoring, not a standalone classifier.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3154680" cy="1874519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09928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English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12264"/>
            <a:ext cx="278892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all-MiniLM-L6-v2
threshold = 0.45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246120" cy="1874519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709928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Turkish / multilingual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12264"/>
            <a:ext cx="288036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paraphrase-multilingual-MiniLM-L12-v2
threshold = 0.42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1508760"/>
            <a:ext cx="3611880" cy="1874519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1709928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Shared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2112264"/>
            <a:ext cx="324612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Trim metadata text to 1800 characters before encoding.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675887"/>
            <a:ext cx="5120640" cy="23317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1363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5B43"/>
                </a:solidFill>
                <a:latin typeface="Aptos"/>
              </a:rPr>
              <a:t>How the score is produced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279392"/>
            <a:ext cx="443484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Load anchor phrases from feedback config; fall back to seeded anchors if needed.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Encode the candidate title + abstract in the language-specific model.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Compute normalized similarity against all anchors and keep the maximum match.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675887"/>
            <a:ext cx="5120640" cy="233172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913632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8137"/>
                </a:solidFill>
                <a:latin typeface="Aptos"/>
              </a:rPr>
              <a:t>Why this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79392"/>
            <a:ext cx="443484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Anchors keep the semantic target narrow: composition-oriented rather than general nutrition.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Two models keep EN and TR scoring language-aware.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This layer recovers semantically relevant phrasing that exact keywords may miss.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Feedback labels and training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learning loop is based on the latest visible state of each annotator, not on raw event totals.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417320"/>
            <a:ext cx="5687568" cy="48280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2_feedback_data_model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1490472"/>
            <a:ext cx="5541264" cy="46817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1417320"/>
            <a:ext cx="4498848" cy="48280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00784"/>
            <a:ext cx="37947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Positive paper: latest draft or done state with has_data = true, food-item count &gt; 0, and nutrient-value count &gt; 0.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Negative paper: a global definitely-no-data label or at least two unique skip users.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Conflict paper: both positive and negative evidence; excluded from learning.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Processing is language-scoped after label construction.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04688"/>
            <a:ext cx="4069080" cy="45720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564184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Important: the feedback loop is implemented, but it is batch-updated rather than online.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What feedback changes in later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loop is already active. Feedback is not only stored; it is exported into a new config and consumed by the next crawler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417320" cy="96012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119786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Annotation outcomes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350008"/>
            <a:ext cx="4572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51760" y="1901952"/>
            <a:ext cx="1600200" cy="96012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2176272"/>
            <a:ext cx="13807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Feedback export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1960" y="2350008"/>
            <a:ext cx="4572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09160" y="1901952"/>
            <a:ext cx="1417320" cy="96012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2176272"/>
            <a:ext cx="119786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latest.json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0" y="2350008"/>
            <a:ext cx="59436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20840" y="1901952"/>
            <a:ext cx="1508760" cy="9601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2176272"/>
            <a:ext cx="12893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Crawler startup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" y="2350008"/>
            <a:ext cx="50292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2520" y="1901952"/>
            <a:ext cx="1874519" cy="96012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42248" y="2176272"/>
            <a:ext cx="165506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Later search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401568"/>
            <a:ext cx="5303520" cy="248716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30752"/>
            <a:ext cx="4526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query_phrases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anchor_phrases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weighted_terms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concept_scores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pair_scores, batch_scores, source_priors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401568"/>
            <a:ext cx="4864608" cy="2487168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730752"/>
            <a:ext cx="4206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Later runs search different phrases in different orders.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Concept ordering changes which foods or nutrients are combined first.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Source-query combinations with better yield move up the queue.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Operational 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refill script is what turns the algorithmic pieces into a working operational loop when the annotator queue runs 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828800"/>
            <a:ext cx="1901952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211F"/>
                </a:solidFill>
                <a:latin typeface="Aptos Display"/>
              </a:rPr>
              <a:t>Check EN/TR deficits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8336" y="2322576"/>
            <a:ext cx="27432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62656" y="1828800"/>
            <a:ext cx="1901952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2075688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211F"/>
                </a:solidFill>
                <a:latin typeface="Aptos Display"/>
              </a:rPr>
              <a:t>Refresh feedback terms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4608" y="2322576"/>
            <a:ext cx="274319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38927" y="1828800"/>
            <a:ext cx="1901952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3" y="2075688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211F"/>
                </a:solidFill>
                <a:latin typeface="Aptos Display"/>
              </a:rPr>
              <a:t>Refresh DergiPark index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79" y="2322576"/>
            <a:ext cx="27432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199" y="1828800"/>
            <a:ext cx="1901952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075688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211F"/>
                </a:solidFill>
                <a:latin typeface="Aptos Display"/>
              </a:rPr>
              <a:t>Run crawler v2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17151" y="2322576"/>
            <a:ext cx="274321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91472" y="1828800"/>
            <a:ext cx="1901952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9488" y="2075688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211F"/>
                </a:solidFill>
                <a:latin typeface="Aptos Display"/>
              </a:rPr>
              <a:t>Upload accepted PDFs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56432"/>
            <a:ext cx="5303520" cy="23317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822191"/>
            <a:ext cx="452628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The system can react when paper stock falls below target.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Feedback refresh is part of the refill cycle by default.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DergiPark refresh keeps the Turkish pool renewable.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6432"/>
            <a:ext cx="4754880" cy="233172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3730752"/>
            <a:ext cx="406908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11F"/>
                </a:solidFill>
                <a:latin typeface="Aptos"/>
              </a:rPr>
              <a:t>The strongest sentence here is: “The current system is operational, not only experimental: it can refresh feedback, search new papers, and push accepted PDFs back into the annotator pipeline.”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AI-relevant UI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frontend is not only data entry. It captures structured evidence that the retrieval layer can later learn from.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3401568" cy="448056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82496"/>
            <a:ext cx="3035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PDF highlight and click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84832"/>
            <a:ext cx="3035808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Nutrient names are matched with boundary-aware regex patterns, wrapped in marks, and opened through direct-target, elementsFromPoint, or caret-based fallback when PDF.js text layers behave irregularly.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81328"/>
            <a:ext cx="3401568" cy="448056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82496"/>
            <a:ext cx="3035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Quick-add popover and structured save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84832"/>
            <a:ext cx="3035808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A clicked nutrient opens a popover near the highlight, captures value and unit, and adds a structured nutrient row into the current food-item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481328"/>
            <a:ext cx="3218688" cy="448056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1682496"/>
            <a:ext cx="2852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Autocomplete ranking and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2084832"/>
            <a:ext cx="2852928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Food and nutrient searches use custom ranking rules, and search_sessions record typed queries, shown options, selected options, and abandon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Current state and scope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This slide is for staying technically strong without overclaiming.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5303520" cy="457200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5B43"/>
                </a:solidFill>
                <a:latin typeface="Aptos Display"/>
              </a:rPr>
              <a:t>Implemented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45262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Multi-source search across Europe PMC, OpenAlex, Semantic Scholar, and DergiPark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Search gate plus stronger metadata filter before acquisition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Dual-model embedding support inside metadata scoring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Batch-updated feedback loop that changes later runs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Operational refill loop tied to paper stock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81328"/>
            <a:ext cx="4983480" cy="457200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5564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8137"/>
                </a:solidFill>
                <a:latin typeface="Aptos Display"/>
              </a:rPr>
              <a:t>Not claimed at midterm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2519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No trained classifier for query ranking yet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No LLM-based search-term ranking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No fully automatic extraction pipeline in the current loop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Document segmentation and extraction are deferred to the second semester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Defense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If you had to compress the whole AI story into a few claims, these are the ones worth defending strongly.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00200"/>
            <a:ext cx="3474720" cy="36118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Claim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03704"/>
            <a:ext cx="3108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The system performs staged filtering before acquisition. This is the main reason expert time is not wasted on every retrieved paper.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361188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0136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Claim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03704"/>
            <a:ext cx="3108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English and Turkish are separate retrieval pools. This is a real technical decision, not only a presentation detail, and DergiPark is part of that strategy.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600200"/>
            <a:ext cx="3200400" cy="361188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801368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Claim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203704"/>
            <a:ext cx="28346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The feedback loop is implemented now. It updates phrases, weighted terms, and source/query priorities for later runs.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5504688"/>
            <a:ext cx="9829800" cy="47548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641848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If challenged, come back to these three claims and then answer with one concrete implementation detail.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Appendix: implementation detail and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next slides are designed for long committee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10561320" cy="448056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211F"/>
                </a:solidFill>
                <a:latin typeface="Aptos Display"/>
              </a:rPr>
              <a:t>Appendix: implementation detail and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07792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85F5B"/>
                </a:solidFill>
                <a:latin typeface="Aptos"/>
              </a:rPr>
              <a:t>The appendix goes deeper into schema slices, exact thresholds, feedback rules, UI internals, and safe answers for common committee questions.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Appendix A. Sources and language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This is the detailed justification for using multiple sources and for not merging EN and TR into one ranking pool.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6537960" cy="45262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28800"/>
            <a:ext cx="5669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Europe PMC provides open-access biomedical coverage and is the strongest English default surface.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OpenAlex broadens metadata coverage and supports both languages when PMC coverage is weak.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Semantic Scholar adds another discovery path and duplicate-aware evidence.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DergiPark is the essential Turkish source and justifies the language-specific Turkish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3703320" cy="45262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1828800"/>
            <a:ext cx="292608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Different source visibility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Different term surfaces and composition phrasing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Different source priors and static biases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Different anchor and query-phrase pools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Appendix B. Exact weights and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These are the implemented constants for the two main ranking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5257800" cy="443484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5B43"/>
                </a:solidFill>
                <a:latin typeface="Aptos"/>
              </a:rPr>
              <a:t>Search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94560"/>
            <a:ext cx="44805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11F"/>
                </a:solidFill>
                <a:latin typeface="Consolas"/>
              </a:rPr>
              <a:t>composition phrase        +0.90
food term                +0.35
nutrient term            +0.35
unit pattern             +0.70
food + nutrient combo    +0.45
missing metadata         -2.00 reject
missing abstract         -1.30 or -0.45
strong negatives         up to -2.50
soft negatives           up to -1.50
health terms             up to -1.60
pass if score &gt;= -0.35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572768"/>
            <a:ext cx="4983480" cy="443484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105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773B4"/>
                </a:solidFill>
                <a:latin typeface="Aptos"/>
              </a:rPr>
              <a:t>Metadata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94560"/>
            <a:ext cx="4206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11F"/>
                </a:solidFill>
                <a:latin typeface="Consolas"/>
              </a:rPr>
              <a:t>composition phrase        +1.35
unit pattern             +1.25
food hit                 +0.65
nutrient hit             +0.65
food + nutrient combo    +0.75
embedding above threshold +1.45
embedding positive bonus +0.75
source prior clamp       +/-0.90
feedback term clamp      +/-2.50
feedback score clamp     +/-6.00
accept if score &gt;= 1.75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Appendix C. Feedback scoring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This slide combines exact label rules with the term-ranking logic used by the feedback updater.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5212080" cy="443484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28800"/>
            <a:ext cx="44348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Positive = latest draft/done with has_data = true and real structured rows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Negative = global definitely-no-data or at least two unique skips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Conflict = both positive and negative evidence, excluded from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315968"/>
            <a:ext cx="4526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11F"/>
                </a:solidFill>
                <a:latin typeface="Consolas"/>
              </a:rPr>
              <a:t>query_rank = 1.75*title_good + 0.75*title_net + 0.35*ta_net - max(0, title_bad)
anchor_rank = 1.25*title_good + 1.0*ta_good + 0.5*title_net + 0.25*ta_net - max(0, title_bad)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72768"/>
            <a:ext cx="5029200" cy="443484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828800"/>
            <a:ext cx="42976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n-grams are extracted separately from titles and title+abstract text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positive, negative, and background document frequencies are compared with log-odds style scoring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query_phrases default max = 64, anchor_phrases default max = 16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weighted_terms carries the full scored-term payload into later metadata scoring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Appendix D. Pair, batch, and concept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 feedback exporter learns more than phrases: it also learns which source-query combinations and concept terms produce better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27632"/>
            <a:ext cx="3456432" cy="425196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3090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Pair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31136"/>
            <a:ext cx="309067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Group search hits by source + template_id + source_term.
Score = novel_positive_count / retrieved.
Also derive source_priors as log((positive + 1) / (negative + 1)).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27632"/>
            <a:ext cx="3456432" cy="425196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28800"/>
            <a:ext cx="3090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Batch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31136"/>
            <a:ext cx="309067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Group by batch_key over paper_search_batches and paper_search_batch_hits.
Score = positive_count / retrieved.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627632"/>
            <a:ext cx="3246120" cy="425196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828800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Concept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231136"/>
            <a:ext cx="2880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Group by source_term.
Score = (positive_count - negative_count) / retrieved.
This later reorders the concept pool.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Appendix E. Acquisition and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Even after metadata acceptance, papers still need a robust PDF path and a full-text validation step before becoming accepted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36192"/>
            <a:ext cx="10469880" cy="117043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828800"/>
            <a:ext cx="1645920" cy="566928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84248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211F"/>
                </a:solidFill>
                <a:latin typeface="Aptos"/>
              </a:rPr>
              <a:t>dedupe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78608" y="2112264"/>
            <a:ext cx="256032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828800"/>
            <a:ext cx="1645920" cy="56692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984248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211F"/>
                </a:solidFill>
                <a:latin typeface="Aptos"/>
              </a:rPr>
              <a:t>metadata accept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0" y="2112264"/>
            <a:ext cx="256032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36592" y="1828800"/>
            <a:ext cx="1645920" cy="566928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1" y="1984248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211F"/>
                </a:solidFill>
                <a:latin typeface="Aptos"/>
              </a:rPr>
              <a:t>PDF fetch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82512" y="2112264"/>
            <a:ext cx="256032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38544" y="1828800"/>
            <a:ext cx="1645920" cy="56692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9983" y="1984248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211F"/>
                </a:solidFill>
                <a:latin typeface="Aptos"/>
              </a:rPr>
              <a:t>pdftotext validation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4464" y="2112264"/>
            <a:ext cx="256032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0496" y="1828800"/>
            <a:ext cx="1645920" cy="566928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1936" y="1984248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211F"/>
                </a:solidFill>
                <a:latin typeface="Aptos"/>
              </a:rPr>
              <a:t>manifest + upload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127248"/>
            <a:ext cx="5120640" cy="28346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493008"/>
            <a:ext cx="4389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Try OA XML and direct PDF links first.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Use package extraction or HTML-discovered links when direct links fail.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Use curl / fallback paths for unstable source behavior.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127248"/>
            <a:ext cx="5074920" cy="283464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493008"/>
            <a:ext cx="4343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Extract full text with pdftotext.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Check for composition framing, table/method evidence, nutrient-unit signals, and food markers.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Reject candidates that still fail full-text usefulness checks.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Appendix F. UI internals relevant to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These details matter when the committee asks how human interaction is turned into structured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3383280" cy="443484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7393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PDF highlight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30175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Build boundary-aware nutrient regex patterns, scan PDF.js text spans after render, wrap matches in mark tags, and resolve overlaps so shorter nutrient names do not break longer 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72768"/>
            <a:ext cx="3401568" cy="443484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73936"/>
            <a:ext cx="3035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Click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76272"/>
            <a:ext cx="3035808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Try the direct event target first, then fall back to elementsFromPoint, then to caretPositionFromPoint or caretRangeFromPoint because PDF.js text layers do not behave like normal HTML.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72768"/>
            <a:ext cx="3182112" cy="443484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73936"/>
            <a:ext cx="2816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Autocomplete and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76272"/>
            <a:ext cx="2816352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Food and nutrient autocomplete use custom ranking rules, and search_sessions logs typed queries, shown options, selected options, status, and timestamps.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Appendix G. Audited sample run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This slide intentionally separates stage counts from recorded acquisition outcomes so the sample run is not misread as a strict funnel.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5321808" cy="44348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5B43"/>
                </a:solidFill>
                <a:latin typeface="Aptos"/>
              </a:rPr>
              <a:t>Stage counts (TR live run 2026-03-30)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585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Raw hits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2286000"/>
            <a:ext cx="242316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0632" y="2286000"/>
            <a:ext cx="2423160" cy="237744"/>
          </a:xfrm>
          <a:prstGeom prst="rect">
            <a:avLst/>
          </a:prstGeom>
          <a:solidFill>
            <a:srgbClr val="47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22494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157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Passed search gate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2743200"/>
            <a:ext cx="242316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2" y="2743200"/>
            <a:ext cx="2337837" cy="23774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27066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137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1729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Passed metadata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0632" y="3200400"/>
            <a:ext cx="242316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70632" y="3200400"/>
            <a:ext cx="1331031" cy="23774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31638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877056"/>
            <a:ext cx="4526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These counts come from the manifest summary and are valid as stage counts up to metadata_pass.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572768"/>
            <a:ext cx="4919472" cy="443484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18105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8137"/>
                </a:solidFill>
                <a:latin typeface="Aptos"/>
              </a:rPr>
              <a:t>Recorded acquisition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2585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PDF fetch failed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2286000"/>
            <a:ext cx="214884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2286000"/>
            <a:ext cx="881575" cy="23774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3032" y="22494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7157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PDF validation failed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2743200"/>
            <a:ext cx="214884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2743200"/>
            <a:ext cx="854026" cy="237744"/>
          </a:xfrm>
          <a:prstGeom prst="rect">
            <a:avLst/>
          </a:prstGeom>
          <a:solidFill>
            <a:srgbClr val="A5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43032" y="27066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1729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Accepted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200400"/>
            <a:ext cx="214884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3200400"/>
            <a:ext cx="109728" cy="23774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43032" y="31638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6301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No terminal result in manifest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3657600"/>
            <a:ext cx="214884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21040" y="3657600"/>
            <a:ext cx="330590" cy="237744"/>
          </a:xfrm>
          <a:prstGeom prst="rect">
            <a:avLst/>
          </a:prstGeom>
          <a:solidFill>
            <a:srgbClr val="47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43032" y="36210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4315968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Important audit note: 78 metadata-pass candidates exist, but only 66 have recorded terminal results in this manifest. Therefore this sample must not be presented as a strict funnel.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AI / algorithm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Appendix H. Likely questions and safe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These are the short answers to return to under pressure.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5285232" cy="44348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11F"/>
                </a:solidFill>
                <a:latin typeface="Aptos"/>
              </a:rPr>
              <a:t>Q: Is the feedback loop implemented?
A: Yes. It is batch-updated, not online, and it already changes later crawler runs.
Q: Do you use an LLM to rank search terms?
A: No. Search-term ranking is feedback-driven statistical scoring, not LLM ranking.
Q: Did you train a model for query ranking?
A: Not yet. The current system learns through feedback statistics and embeddings, not a trained classifier.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72768"/>
            <a:ext cx="4919472" cy="443484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810512"/>
            <a:ext cx="42519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11F"/>
                </a:solidFill>
                <a:latin typeface="Aptos"/>
              </a:rPr>
              <a:t>Q: Why not download everything?
A: Because metadata filtering is much cheaper and protects expert time.
Q: Why separate English and Turkish?
A: Because source coverage, terminology, and source priors differ.
Q: Why not only embeddings?
A: Domain cues like units, composition phrases, and food/nutrient combinations are too valuable to ignore.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