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95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960120"/>
            <a:ext cx="347472" cy="4480560"/>
          </a:xfrm>
          <a:prstGeom prst="roundRect">
            <a:avLst/>
          </a:prstGeom>
          <a:solidFill>
            <a:srgbClr val="295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914400"/>
            <a:ext cx="52120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E211F"/>
                </a:solidFill>
                <a:latin typeface="Aptos Display"/>
              </a:rPr>
              <a:t>OpenNutri Yapay Zeka / Algoritma Katmanı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1810512"/>
            <a:ext cx="53035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585F5B"/>
                </a:solidFill>
                <a:latin typeface="Aptos"/>
              </a:rPr>
              <a:t>Arasınav sunumu | Erişim, sıralama ve geri besleme kullanımı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359152"/>
            <a:ext cx="4846320" cy="1938528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596896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95B43"/>
                </a:solidFill>
                <a:latin typeface="Aptos"/>
              </a:rPr>
              <a:t>Mevcut odak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2889504"/>
            <a:ext cx="42976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E211F"/>
                </a:solidFill>
                <a:latin typeface="Aptos"/>
              </a:defRPr>
            </a:pPr>
            <a:r>
              <a:t>Çok kaynaklı makale keşfi</a:t>
            </a:r>
          </a:p>
          <a:p>
            <a:pPr>
              <a:spcAft>
                <a:spcPts val="700"/>
              </a:spcAft>
              <a:defRPr sz="1700">
                <a:solidFill>
                  <a:srgbClr val="1E211F"/>
                </a:solidFill>
                <a:latin typeface="Aptos"/>
              </a:defRPr>
            </a:pPr>
            <a:r>
              <a:t>EN/TR ayrımlı erişim stratejisi</a:t>
            </a:r>
          </a:p>
          <a:p>
            <a:pPr>
              <a:spcAft>
                <a:spcPts val="700"/>
              </a:spcAft>
              <a:defRPr sz="1700">
                <a:solidFill>
                  <a:srgbClr val="1E211F"/>
                </a:solidFill>
                <a:latin typeface="Aptos"/>
              </a:defRPr>
            </a:pPr>
            <a:r>
              <a:t>Sonraki çalıştırmalar için geri besleme tabanlı yeniden sıralama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960120"/>
            <a:ext cx="4937760" cy="4937760"/>
          </a:xfrm>
          <a:prstGeom prst="roundRect">
            <a:avLst/>
          </a:prstGeom>
          <a:solidFill>
            <a:srgbClr val="D7E8DC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234440"/>
            <a:ext cx="4206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95B43"/>
                </a:solidFill>
                <a:latin typeface="Aptos"/>
              </a:rPr>
              <a:t>Arasınav sistem iddiası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1783080"/>
            <a:ext cx="3977639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E211F"/>
                </a:solidFill>
                <a:latin typeface="Aptos Display"/>
              </a:rPr>
              <a:t>Erişim, anotasyon ve geri besleme artık tek bir operasyonel döngü olarak birlikte çalışmaktadır.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611880"/>
            <a:ext cx="3977639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585F5B"/>
                </a:solidFill>
                <a:latin typeface="Aptos"/>
              </a:rPr>
              <a:t>Arama, filtreleme, PDF edinimi, anotasyon ve sonraki geri besleme kullanımı mevcut uygulamanın parçasıdır.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2823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85F5B"/>
                </a:solidFill>
                <a:latin typeface="Aptos"/>
              </a:rPr>
              <a:t>OpenNutri | Yapay zeka / algoritma mini sunumu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6428232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85F5B"/>
                </a:solidFill>
                <a:latin typeface="Aptos"/>
              </a:rPr>
              <a:t>TR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95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5943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E211F"/>
                </a:solidFill>
                <a:latin typeface="Aptos Display"/>
              </a:rPr>
              <a:t>Bu Katman Neden Gerekli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60120"/>
            <a:ext cx="9875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85F5B"/>
                </a:solidFill>
                <a:latin typeface="Aptos"/>
              </a:rPr>
              <a:t>Algoritmik katman, uzman zamanını korumak ve erişim kalitesini yükseltmek için vardır.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600200"/>
            <a:ext cx="2971800" cy="4160520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1832" y="1828800"/>
            <a:ext cx="1417320" cy="384048"/>
          </a:xfrm>
          <a:prstGeom prst="roundRect">
            <a:avLst/>
          </a:prstGeom>
          <a:solidFill>
            <a:srgbClr val="F4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C68137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331720"/>
            <a:ext cx="2423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E211F"/>
                </a:solidFill>
                <a:latin typeface="Aptos Display"/>
              </a:rPr>
              <a:t>Dağınık literatür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383280"/>
            <a:ext cx="24688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85F5B"/>
                </a:solidFill>
                <a:latin typeface="Aptos"/>
              </a:rPr>
              <a:t>Gıda bileşimiyle ilgili uygun makaleler birden fazla veritabanı ve yerel platforma dağılmış durumdadır.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69080" y="1600200"/>
            <a:ext cx="2971800" cy="4160520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97680" y="1828800"/>
            <a:ext cx="1417320" cy="384048"/>
          </a:xfrm>
          <a:prstGeom prst="roundRect">
            <a:avLst/>
          </a:prstGeom>
          <a:solidFill>
            <a:srgbClr val="F4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C68137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331720"/>
            <a:ext cx="2423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E211F"/>
                </a:solidFill>
                <a:latin typeface="Aptos Display"/>
              </a:rPr>
              <a:t>Yüksek edinim maliyeti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3383280"/>
            <a:ext cx="24688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85F5B"/>
                </a:solidFill>
                <a:latin typeface="Aptos"/>
              </a:rPr>
              <a:t>Olası her PDF'yi indirmek yavaştır, gürültülüdür ve uzman inceleme zamanını boşa harcar.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24927" y="1600200"/>
            <a:ext cx="2971800" cy="4160520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53527" y="1828800"/>
            <a:ext cx="1417320" cy="384048"/>
          </a:xfrm>
          <a:prstGeom prst="roundRect">
            <a:avLst/>
          </a:prstGeom>
          <a:solidFill>
            <a:srgbClr val="F4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C68137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53527" y="2331720"/>
            <a:ext cx="2423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E211F"/>
                </a:solidFill>
                <a:latin typeface="Aptos Display"/>
              </a:rPr>
              <a:t>Erişim tasarımı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53527" y="3383280"/>
            <a:ext cx="24688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85F5B"/>
                </a:solidFill>
                <a:latin typeface="Aptos"/>
              </a:rPr>
              <a:t>Sistem PDF ediniminden önce meta veriyi sıralar ve İngilizce ile Türkçeyi ayrı havuzlar olarak ele alır.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5897880"/>
            <a:ext cx="9692640" cy="457200"/>
          </a:xfrm>
          <a:prstGeom prst="roundRect">
            <a:avLst/>
          </a:prstGeom>
          <a:solidFill>
            <a:srgbClr val="F4E5D3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6025896"/>
            <a:ext cx="9235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211F"/>
                </a:solidFill>
                <a:latin typeface="Aptos"/>
              </a:rPr>
              <a:t>Amaç: edinim ve anotasyon emeğini yalnızca gerçek gıda bileşimi potansiyeli taşıyan makalelere ayırmak.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2823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85F5B"/>
                </a:solidFill>
                <a:latin typeface="Aptos"/>
              </a:rPr>
              <a:t>OpenNutri | Yapay zeka / algoritma mini sunumu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428232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85F5B"/>
                </a:solidFill>
                <a:latin typeface="Aptos"/>
              </a:rPr>
              <a:t>TR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95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E211F"/>
                </a:solidFill>
                <a:latin typeface="Aptos Display"/>
              </a:rPr>
              <a:t>Erişim Ve Sıralama Hattı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9966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85F5B"/>
                </a:solidFill>
                <a:latin typeface="Aptos"/>
              </a:rPr>
              <a:t>Hat, zayıf adayları erken eler ve PDF indirmeyi daha güçlü adaylara ayırır.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828800"/>
            <a:ext cx="1874519" cy="1078992"/>
          </a:xfrm>
          <a:prstGeom prst="roundRect">
            <a:avLst/>
          </a:prstGeom>
          <a:solidFill>
            <a:srgbClr val="D7E8DC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66543"/>
            <a:ext cx="1545336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11F"/>
                </a:solidFill>
                <a:latin typeface="Aptos Display"/>
              </a:rPr>
              <a:t>Arama
Kaynakları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24327" y="2368296"/>
            <a:ext cx="228600" cy="0"/>
          </a:xfrm>
          <a:prstGeom prst="line">
            <a:avLst/>
          </a:prstGeom>
          <a:ln w="25400">
            <a:solidFill>
              <a:srgbClr val="295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852927" y="1828800"/>
            <a:ext cx="1554480" cy="1078992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2066543"/>
            <a:ext cx="1225295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11F"/>
                </a:solidFill>
                <a:latin typeface="Aptos Display"/>
              </a:rPr>
              <a:t>Arama
Kapısı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407407" y="2368296"/>
            <a:ext cx="228600" cy="0"/>
          </a:xfrm>
          <a:prstGeom prst="line">
            <a:avLst/>
          </a:prstGeom>
          <a:ln w="25400">
            <a:solidFill>
              <a:srgbClr val="295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636007" y="1828800"/>
            <a:ext cx="1874519" cy="1078992"/>
          </a:xfrm>
          <a:prstGeom prst="roundRect">
            <a:avLst/>
          </a:prstGeom>
          <a:solidFill>
            <a:srgbClr val="F4E5D3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599" y="2066543"/>
            <a:ext cx="1545336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11F"/>
                </a:solidFill>
                <a:latin typeface="Aptos Display"/>
              </a:rPr>
              <a:t>Meta Veri
Filtresi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510527" y="2368296"/>
            <a:ext cx="228600" cy="0"/>
          </a:xfrm>
          <a:prstGeom prst="line">
            <a:avLst/>
          </a:prstGeom>
          <a:ln w="25400">
            <a:solidFill>
              <a:srgbClr val="295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739127" y="1828800"/>
            <a:ext cx="1554480" cy="1078992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03719" y="2066543"/>
            <a:ext cx="1225295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11F"/>
                </a:solidFill>
                <a:latin typeface="Aptos Display"/>
              </a:rPr>
              <a:t>PDF
Edinimi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293607" y="2368296"/>
            <a:ext cx="228600" cy="0"/>
          </a:xfrm>
          <a:prstGeom prst="line">
            <a:avLst/>
          </a:prstGeom>
          <a:ln w="25400">
            <a:solidFill>
              <a:srgbClr val="295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522207" y="1828800"/>
            <a:ext cx="1828800" cy="1078992"/>
          </a:xfrm>
          <a:prstGeom prst="roundRect">
            <a:avLst/>
          </a:prstGeom>
          <a:solidFill>
            <a:srgbClr val="D7E8DC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799" y="2066543"/>
            <a:ext cx="1499616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11F"/>
                </a:solidFill>
                <a:latin typeface="Aptos Display"/>
              </a:rPr>
              <a:t>Uzman
Anotasyonu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310128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95B43"/>
                </a:solidFill>
                <a:latin typeface="Aptos"/>
              </a:rPr>
              <a:t>Meta veri filtresindeki sinyaller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703320"/>
            <a:ext cx="1554480" cy="384048"/>
          </a:xfrm>
          <a:prstGeom prst="roundRect">
            <a:avLst/>
          </a:prstGeom>
          <a:solidFill>
            <a:srgbClr val="D7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295B43"/>
                </a:solidFill>
                <a:latin typeface="Aptos"/>
              </a:rPr>
              <a:t>bileşim ifadeleri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23160" y="3703320"/>
            <a:ext cx="1783080" cy="384048"/>
          </a:xfrm>
          <a:prstGeom prst="roundRect">
            <a:avLst/>
          </a:prstGeom>
          <a:solidFill>
            <a:srgbClr val="D7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295B43"/>
                </a:solidFill>
                <a:latin typeface="Aptos"/>
              </a:rPr>
              <a:t>gıda ve besin terimleri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703320"/>
            <a:ext cx="1325880" cy="384048"/>
          </a:xfrm>
          <a:prstGeom prst="roundRect">
            <a:avLst/>
          </a:prstGeom>
          <a:solidFill>
            <a:srgbClr val="D7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295B43"/>
                </a:solidFill>
                <a:latin typeface="Aptos"/>
              </a:rPr>
              <a:t>birim örüntüleri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06440" y="3703320"/>
            <a:ext cx="1600200" cy="384048"/>
          </a:xfrm>
          <a:prstGeom prst="roundRect">
            <a:avLst/>
          </a:prstGeom>
          <a:solidFill>
            <a:srgbClr val="F4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C68137"/>
                </a:solidFill>
                <a:latin typeface="Aptos"/>
              </a:rPr>
              <a:t>anlamsal benzerlik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43800" y="3703320"/>
            <a:ext cx="1828800" cy="384048"/>
          </a:xfrm>
          <a:prstGeom prst="roundRect">
            <a:avLst/>
          </a:prstGeom>
          <a:solidFill>
            <a:srgbClr val="F4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C68137"/>
                </a:solidFill>
                <a:latin typeface="Aptos"/>
              </a:rPr>
              <a:t>kaynak ve sorgu öncelikleri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83280" y="4187952"/>
            <a:ext cx="2057400" cy="384048"/>
          </a:xfrm>
          <a:prstGeom prst="roundRect">
            <a:avLst/>
          </a:prstGeom>
          <a:solidFill>
            <a:srgbClr val="D7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295B43"/>
                </a:solidFill>
                <a:latin typeface="Aptos"/>
              </a:rPr>
              <a:t>geri besleme ağırlıklı terimler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828032"/>
            <a:ext cx="10149840" cy="841248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5038344"/>
            <a:ext cx="9692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85F5B"/>
                </a:solidFill>
                <a:latin typeface="Aptos"/>
              </a:rPr>
              <a:t>Mevcut uygulama toplamsal puanlama kullanır: açık sözcüksel işaretler, embedding benzerliği ve öğrenilmiş geri besleme birlikte katkı verir.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2823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85F5B"/>
                </a:solidFill>
                <a:latin typeface="Aptos"/>
              </a:rPr>
              <a:t>OpenNutri | Yapay zeka / algoritma mini sunumu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0" y="6428232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85F5B"/>
                </a:solidFill>
                <a:latin typeface="Aptos"/>
              </a:rPr>
              <a:t>TR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95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6217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E211F"/>
                </a:solidFill>
                <a:latin typeface="Aptos Display"/>
              </a:rPr>
              <a:t>Uygulanmış Geri Besleme Döngüsü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85F5B"/>
                </a:solidFill>
                <a:latin typeface="Aptos"/>
              </a:rPr>
              <a:t>Bu döngü şu anda uygulanmıştır; yalnızca etiket toplamaz, sonraki crawler çalıştırmalarını da günceller.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2103120"/>
            <a:ext cx="2057400" cy="868680"/>
          </a:xfrm>
          <a:prstGeom prst="roundRect">
            <a:avLst/>
          </a:prstGeom>
          <a:solidFill>
            <a:srgbClr val="D7E8DC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2331720"/>
            <a:ext cx="172821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E211F"/>
                </a:solidFill>
                <a:latin typeface="Aptos Display"/>
              </a:rPr>
              <a:t>Crawler çalıştırması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80" y="1444752"/>
            <a:ext cx="2468880" cy="868680"/>
          </a:xfrm>
          <a:prstGeom prst="roundRect">
            <a:avLst/>
          </a:prstGeom>
          <a:solidFill>
            <a:srgbClr val="D7E8DC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76472" y="1673352"/>
            <a:ext cx="213969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E211F"/>
                </a:solidFill>
                <a:latin typeface="Aptos Display"/>
              </a:rPr>
              <a:t>Arama çıktıları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2103120"/>
            <a:ext cx="2331720" cy="868680"/>
          </a:xfrm>
          <a:prstGeom prst="roundRect">
            <a:avLst/>
          </a:prstGeom>
          <a:solidFill>
            <a:srgbClr val="D7E8DC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93992" y="2331720"/>
            <a:ext cx="200253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E211F"/>
                </a:solidFill>
                <a:latin typeface="Aptos Display"/>
              </a:rPr>
              <a:t>Anotasyon kararları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49039" y="4069080"/>
            <a:ext cx="2468880" cy="868680"/>
          </a:xfrm>
          <a:prstGeom prst="roundRect">
            <a:avLst/>
          </a:prstGeom>
          <a:solidFill>
            <a:srgbClr val="F4E5D3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13631" y="4297680"/>
            <a:ext cx="213969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E211F"/>
                </a:solidFill>
                <a:latin typeface="Aptos Display"/>
              </a:rPr>
              <a:t>Geri besleme güncellemesi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3063240" y="1874519"/>
            <a:ext cx="548640" cy="658369"/>
          </a:xfrm>
          <a:prstGeom prst="line">
            <a:avLst/>
          </a:prstGeom>
          <a:ln w="25400">
            <a:solidFill>
              <a:srgbClr val="295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80760" y="1874519"/>
            <a:ext cx="548640" cy="658369"/>
          </a:xfrm>
          <a:prstGeom prst="line">
            <a:avLst/>
          </a:prstGeom>
          <a:ln w="25400">
            <a:solidFill>
              <a:srgbClr val="295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5532120" y="2971800"/>
            <a:ext cx="2194559" cy="1097280"/>
          </a:xfrm>
          <a:prstGeom prst="line">
            <a:avLst/>
          </a:prstGeom>
          <a:ln w="25400">
            <a:solidFill>
              <a:srgbClr val="295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2011680" y="2971800"/>
            <a:ext cx="2331720" cy="1097280"/>
          </a:xfrm>
          <a:prstGeom prst="line">
            <a:avLst/>
          </a:prstGeom>
          <a:ln w="25400">
            <a:solidFill>
              <a:srgbClr val="295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372600" y="1554480"/>
            <a:ext cx="2148840" cy="4160520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46920" y="1810512"/>
            <a:ext cx="1600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95B43"/>
                </a:solidFill>
                <a:latin typeface="Aptos"/>
              </a:rPr>
              <a:t>Güncellenenler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2148840"/>
            <a:ext cx="1664208" cy="2606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Her kullanıcı için görünen son etiket</a:t>
            </a:r>
          </a:p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Pozitif, negatif ve çelişkili kümeler</a:t>
            </a:r>
          </a:p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Güncellenen sorgu ve çapa ifadeleri</a:t>
            </a:r>
          </a:p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Güncellenen kavram ve kaynak öncelikleri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760720"/>
            <a:ext cx="10744200" cy="548640"/>
          </a:xfrm>
          <a:prstGeom prst="roundRect">
            <a:avLst/>
          </a:prstGeom>
          <a:solidFill>
            <a:srgbClr val="F4E5D3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5925312"/>
            <a:ext cx="10287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211F"/>
                </a:solidFill>
                <a:latin typeface="Aptos"/>
              </a:rPr>
              <a:t>Mevcut durum: çalışan bir toplu geri besleme döngüsü vardır. Sonraki çalıştırmaları değiştirir, ancak henüz eğitilmiş bir sınıflandırıcı değildir.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2823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85F5B"/>
                </a:solidFill>
                <a:latin typeface="Aptos"/>
              </a:rPr>
              <a:t>OpenNutri | Yapay zeka / algoritma mini sunumu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6428232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85F5B"/>
                </a:solidFill>
                <a:latin typeface="Aptos"/>
              </a:rPr>
              <a:t>TR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95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6400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E211F"/>
                </a:solidFill>
                <a:latin typeface="Aptos Display"/>
              </a:rPr>
              <a:t>Mevcut Durum Ve Kapsam Sınırı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60120"/>
            <a:ext cx="9966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85F5B"/>
                </a:solidFill>
                <a:latin typeface="Aptos"/>
              </a:rPr>
              <a:t>Bu slayt, projeyi aşırı iddiaya kaçmadan savunmanıza yardımcı olur.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600200"/>
            <a:ext cx="5257800" cy="4480560"/>
          </a:xfrm>
          <a:prstGeom prst="roundRect">
            <a:avLst/>
          </a:prstGeom>
          <a:solidFill>
            <a:srgbClr val="D7E8DC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828800"/>
            <a:ext cx="2468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95B43"/>
                </a:solidFill>
                <a:latin typeface="Aptos Display"/>
              </a:rPr>
              <a:t>Şu anda uygulananlar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95728"/>
            <a:ext cx="4572000" cy="3063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E211F"/>
                </a:solidFill>
                <a:latin typeface="Aptos"/>
              </a:defRPr>
            </a:pPr>
            <a:r>
              <a:t>Europe PMC, OpenAlex, Semantic Scholar ve DergiPark üzerinde çok kaynaklı arama</a:t>
            </a:r>
          </a:p>
          <a:p>
            <a:pPr>
              <a:spcAft>
                <a:spcPts val="700"/>
              </a:spcAft>
              <a:defRPr sz="1500">
                <a:solidFill>
                  <a:srgbClr val="1E211F"/>
                </a:solidFill>
                <a:latin typeface="Aptos"/>
              </a:defRPr>
            </a:pPr>
            <a:r>
              <a:t>PDF indirmeden önce iki aşamalı filtreleme</a:t>
            </a:r>
          </a:p>
          <a:p>
            <a:pPr>
              <a:spcAft>
                <a:spcPts val="700"/>
              </a:spcAft>
              <a:defRPr sz="1500">
                <a:solidFill>
                  <a:srgbClr val="1E211F"/>
                </a:solidFill>
                <a:latin typeface="Aptos"/>
              </a:defRPr>
            </a:pPr>
            <a:r>
              <a:t>Embedding destekli meta veri puanlama</a:t>
            </a:r>
          </a:p>
          <a:p>
            <a:pPr>
              <a:spcAft>
                <a:spcPts val="700"/>
              </a:spcAft>
              <a:defRPr sz="1500">
                <a:solidFill>
                  <a:srgbClr val="1E211F"/>
                </a:solidFill>
                <a:latin typeface="Aptos"/>
              </a:defRPr>
            </a:pPr>
            <a:r>
              <a:t>Geri besleme tabanlı istatistiksel terim güncellemesi</a:t>
            </a:r>
          </a:p>
          <a:p>
            <a:pPr>
              <a:spcAft>
                <a:spcPts val="700"/>
              </a:spcAft>
              <a:defRPr sz="1500">
                <a:solidFill>
                  <a:srgbClr val="1E211F"/>
                </a:solidFill>
                <a:latin typeface="Aptos"/>
              </a:defRPr>
            </a:pPr>
            <a:r>
              <a:t>Operasyonel döngüyü kapatan makale stoğu yenileme süreci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00200"/>
            <a:ext cx="5166360" cy="4480560"/>
          </a:xfrm>
          <a:prstGeom prst="roundRect">
            <a:avLst/>
          </a:prstGeom>
          <a:solidFill>
            <a:srgbClr val="F4E5D3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0528" y="1828800"/>
            <a:ext cx="2880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C68137"/>
                </a:solidFill>
                <a:latin typeface="Aptos Display"/>
              </a:rPr>
              <a:t>İkinci döneme ertelenenler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2450592"/>
            <a:ext cx="443484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E211F"/>
                </a:solidFill>
                <a:latin typeface="Aptos"/>
              </a:defRPr>
            </a:pPr>
            <a:r>
              <a:t>Belge segmentasyonu</a:t>
            </a:r>
          </a:p>
          <a:p>
            <a:pPr>
              <a:spcAft>
                <a:spcPts val="700"/>
              </a:spcAft>
              <a:defRPr sz="1500">
                <a:solidFill>
                  <a:srgbClr val="1E211F"/>
                </a:solidFill>
                <a:latin typeface="Aptos"/>
              </a:defRPr>
            </a:pPr>
            <a:r>
              <a:t>LLM destekli çıkarım</a:t>
            </a:r>
          </a:p>
          <a:p>
            <a:pPr>
              <a:spcAft>
                <a:spcPts val="700"/>
              </a:spcAft>
              <a:defRPr sz="1500">
                <a:solidFill>
                  <a:srgbClr val="1E211F"/>
                </a:solidFill>
                <a:latin typeface="Aptos"/>
              </a:defRPr>
            </a:pPr>
            <a:r>
              <a:t>Yeterli etiket hacminden sonra sınıflandırıcı eğitimi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4206240"/>
            <a:ext cx="43434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E211F"/>
                </a:solidFill>
                <a:latin typeface="Aptos Display"/>
              </a:rPr>
              <a:t>Arasınav için temel iddia şudur: erişim, anotasyon ve geri besleme artık tek bir sistem olarak birlikte çalışmaktadır.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2823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85F5B"/>
                </a:solidFill>
                <a:latin typeface="Aptos"/>
              </a:rPr>
              <a:t>OpenNutri | Yapay zeka / algoritma mini sunumu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28232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85F5B"/>
                </a:solidFill>
                <a:latin typeface="Aptos"/>
              </a:rPr>
              <a:t>TR  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